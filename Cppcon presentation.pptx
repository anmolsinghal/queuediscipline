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7" r:id="rId3"/>
    <p:sldId id="259" r:id="rId4"/>
    <p:sldId id="315" r:id="rId5"/>
    <p:sldId id="265" r:id="rId6"/>
    <p:sldId id="269" r:id="rId7"/>
    <p:sldId id="266" r:id="rId8"/>
    <p:sldId id="268" r:id="rId9"/>
    <p:sldId id="312" r:id="rId10"/>
    <p:sldId id="308" r:id="rId11"/>
    <p:sldId id="271" r:id="rId12"/>
    <p:sldId id="307" r:id="rId13"/>
    <p:sldId id="261" r:id="rId14"/>
    <p:sldId id="262" r:id="rId15"/>
    <p:sldId id="263" r:id="rId16"/>
    <p:sldId id="275" r:id="rId17"/>
    <p:sldId id="296" r:id="rId18"/>
    <p:sldId id="267" r:id="rId19"/>
    <p:sldId id="272" r:id="rId20"/>
    <p:sldId id="273" r:id="rId21"/>
    <p:sldId id="280" r:id="rId22"/>
    <p:sldId id="309" r:id="rId23"/>
    <p:sldId id="274" r:id="rId24"/>
    <p:sldId id="276" r:id="rId25"/>
    <p:sldId id="278" r:id="rId26"/>
    <p:sldId id="281" r:id="rId27"/>
    <p:sldId id="277" r:id="rId28"/>
    <p:sldId id="316" r:id="rId29"/>
    <p:sldId id="282" r:id="rId30"/>
    <p:sldId id="283" r:id="rId31"/>
    <p:sldId id="284" r:id="rId32"/>
    <p:sldId id="285" r:id="rId33"/>
    <p:sldId id="286" r:id="rId34"/>
    <p:sldId id="313" r:id="rId35"/>
    <p:sldId id="314" r:id="rId36"/>
    <p:sldId id="317" r:id="rId37"/>
    <p:sldId id="311" r:id="rId38"/>
    <p:sldId id="287" r:id="rId39"/>
    <p:sldId id="288" r:id="rId40"/>
    <p:sldId id="290" r:id="rId41"/>
    <p:sldId id="289" r:id="rId42"/>
    <p:sldId id="291" r:id="rId43"/>
    <p:sldId id="292" r:id="rId44"/>
    <p:sldId id="293" r:id="rId45"/>
    <p:sldId id="319" r:id="rId46"/>
    <p:sldId id="301" r:id="rId47"/>
    <p:sldId id="305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A638F-5F6F-4E6F-A87E-B2AA2A0F96F7}" v="149" dt="2026-09-14T20:31:11.546"/>
    <p1510:client id="{494FDD92-6B94-4F63-8D7D-22069628089A}" v="2" dt="2026-09-15T19:33:36.449"/>
    <p1510:client id="{865BDEA4-B61C-40CA-8335-A99B9200B810}" v="1" dt="2026-09-15T19:34:25.738"/>
    <p1510:client id="{8D251D3E-00EF-471C-803E-10629FE2011D}" v="52" dt="2026-09-13T20:59:41.317"/>
    <p1510:client id="{E7E54848-5F1F-4723-AEEE-6ECFBF634806}" v="2" dt="2026-09-15T19:11:25.809"/>
    <p1510:client id="{F0F1C295-D355-484D-B9B6-A79AB267095D}" v="783" dt="2026-09-14T00:43:37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B89FC-388F-4D1E-B8EC-5914F4A001ED}" type="datetimeFigureOut"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18963-1DC7-4B1C-8D4E-E2F12E1C14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9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93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Define lock free better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65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Define cache line here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What does owning a cache line actually mean?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2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Can mention release is flush cache, acquire is reloading cache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Relaxed - 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mention </a:t>
            </a:r>
            <a:r>
              <a:rPr lang="en-US">
                <a:ea typeface="Calibri"/>
                <a:cs typeface="Calibri"/>
              </a:rPr>
              <a:t>don't</a:t>
            </a:r>
            <a:r>
              <a:rPr lang="en-US" dirty="0">
                <a:ea typeface="Calibri"/>
                <a:cs typeface="Calibri"/>
              </a:rPr>
              <a:t> worry about it in code, we can discuss why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5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Why lock free? Why wait free?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69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Cache is complicated to follow, code in general is complicated to follow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12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Do basics of CAS before discussing queue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46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42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B6FD-9524-C4D7-3C29-BD137DD3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D6652-D43E-6730-BD24-5F5BB0DBD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C0EC5-369F-CD69-00F3-0717CC1FA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FEE12-F961-CFB1-A4A9-08C42245B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20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05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See if explaining math is doable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8963-1DC7-4B1C-8D4E-E2F12E1C1432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6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x6av4dW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1xWcj3a1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b="1">
              <a:latin typeface="Aptos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888C40-922B-693A-EAFB-0602630E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EE6844-C761-401F-BA81-89F2DB63CAC7}"/>
              </a:ext>
            </a:extLst>
          </p:cNvPr>
          <p:cNvSpPr/>
          <p:nvPr/>
        </p:nvSpPr>
        <p:spPr>
          <a:xfrm>
            <a:off x="545237" y="1546441"/>
            <a:ext cx="10820400" cy="4610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9D09D-0FD3-6CA9-11D3-404E3947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Queues connect execution contexts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F460-BA69-EBFD-925B-6383A65BA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663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63449"/>
                </a:solidFill>
                <a:latin typeface="Aptos"/>
                <a:ea typeface="+mn-lt"/>
                <a:cs typeface="+mn-lt"/>
              </a:rPr>
              <a:t>If work crosses an execution-context boundary, there is probably a </a:t>
            </a:r>
            <a:r>
              <a:rPr lang="en-US">
                <a:solidFill>
                  <a:srgbClr val="263449"/>
                </a:solidFill>
                <a:latin typeface="Aptos"/>
                <a:ea typeface="+mn-lt"/>
                <a:cs typeface="+mn-lt"/>
              </a:rPr>
              <a:t>queue involved</a:t>
            </a:r>
            <a:endParaRPr lang="en-US">
              <a:solidFill>
                <a:srgbClr val="263449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92090-3373-41A5-B107-FF4C333616E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FFB6B-6E20-4677-A7B7-8922B455C7A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3DB9D9-2A3D-4B23-9EFA-498DF38776BF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3A3ABE-7B97-4661-B732-55D8B12BA0D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83DF9-5D1F-4122-A28F-27AC8E566735}"/>
              </a:ext>
            </a:extLst>
          </p:cNvPr>
          <p:cNvSpPr txBox="1"/>
          <p:nvPr/>
        </p:nvSpPr>
        <p:spPr>
          <a:xfrm>
            <a:off x="736600" y="304800"/>
            <a:ext cx="3900170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Queues are everywhere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61E39-F073-AF3B-E091-B8C84653B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051" y="2787068"/>
            <a:ext cx="7150197" cy="1287864"/>
          </a:xfrm>
          <a:prstGeom prst="rect">
            <a:avLst/>
          </a:prstGeo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9380644A-ACD2-EDB9-5F6A-442CDFC798F3}"/>
              </a:ext>
            </a:extLst>
          </p:cNvPr>
          <p:cNvSpPr txBox="1"/>
          <p:nvPr/>
        </p:nvSpPr>
        <p:spPr>
          <a:xfrm>
            <a:off x="835828" y="4478699"/>
            <a:ext cx="5925022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en-US" b="1" dirty="0">
                <a:solidFill>
                  <a:srgbClr val="263449"/>
                </a:solidFill>
                <a:ea typeface="+mn-lt"/>
                <a:cs typeface="+mn-lt"/>
              </a:rPr>
              <a:t>Processors:</a:t>
            </a:r>
            <a:r>
              <a:rPr lang="en-US" dirty="0">
                <a:solidFill>
                  <a:srgbClr val="263449"/>
                </a:solidFill>
                <a:ea typeface="+mn-lt"/>
                <a:cs typeface="+mn-lt"/>
              </a:rPr>
              <a:t> instruction and load/store queues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263449"/>
                </a:solidFill>
                <a:ea typeface="+mn-lt"/>
                <a:cs typeface="+mn-lt"/>
              </a:rPr>
              <a:t>Operating systems:</a:t>
            </a:r>
            <a:r>
              <a:rPr lang="en-US" dirty="0">
                <a:solidFill>
                  <a:srgbClr val="263449"/>
                </a:solidFill>
                <a:ea typeface="+mn-lt"/>
                <a:cs typeface="+mn-lt"/>
              </a:rPr>
              <a:t> per-core runnable-thread queues 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263449"/>
                </a:solidFill>
                <a:ea typeface="+mn-lt"/>
                <a:cs typeface="+mn-lt"/>
              </a:rPr>
              <a:t>Networks:</a:t>
            </a:r>
            <a:r>
              <a:rPr lang="en-US" dirty="0">
                <a:solidFill>
                  <a:srgbClr val="263449"/>
                </a:solidFill>
                <a:ea typeface="+mn-lt"/>
                <a:cs typeface="+mn-lt"/>
              </a:rPr>
              <a:t> NIC RX/TX descriptor rings 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rgbClr val="263449"/>
                </a:solidFill>
                <a:ea typeface="+mn-lt"/>
                <a:cs typeface="+mn-lt"/>
              </a:rPr>
              <a:t>Trading systems:</a:t>
            </a:r>
            <a:r>
              <a:rPr lang="en-US" dirty="0">
                <a:solidFill>
                  <a:srgbClr val="263449"/>
                </a:solidFill>
                <a:ea typeface="+mn-lt"/>
                <a:cs typeface="+mn-lt"/>
              </a:rPr>
              <a:t> market-data and order queues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F47F8-2682-4D92-89D5-2A2089B68CD1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0EBEBC-DF45-4E44-A852-7A2B848FBFD9}"/>
              </a:ext>
            </a:extLst>
          </p:cNvPr>
          <p:cNvSpPr/>
          <p:nvPr/>
        </p:nvSpPr>
        <p:spPr>
          <a:xfrm>
            <a:off x="527205" y="1270000"/>
            <a:ext cx="10871200" cy="47879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4A1DC-533E-B035-3C48-1E08BEDC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9BB28-E4DC-AE30-340C-176BC073245D}"/>
              </a:ext>
            </a:extLst>
          </p:cNvPr>
          <p:cNvSpPr txBox="1"/>
          <p:nvPr/>
        </p:nvSpPr>
        <p:spPr>
          <a:xfrm>
            <a:off x="725037" y="1416501"/>
            <a:ext cx="10516877" cy="33701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63449"/>
                </a:solidFill>
                <a:latin typeface="Aptos"/>
                <a:ea typeface="+mn-lt"/>
                <a:cs typeface="+mn-lt"/>
              </a:rPr>
              <a:t>Progress guarantees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63449"/>
                </a:solidFill>
                <a:latin typeface="Aptos"/>
                <a:ea typeface="+mn-lt"/>
                <a:cs typeface="+mn-lt"/>
              </a:rPr>
              <a:t>Lock free primitives</a:t>
            </a:r>
            <a:endParaRPr lang="en-US" sz="280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63449"/>
                </a:solidFill>
                <a:latin typeface="Aptos"/>
                <a:ea typeface="+mn-lt"/>
                <a:cs typeface="+mn-lt"/>
              </a:rPr>
              <a:t>Queue architecture</a:t>
            </a:r>
            <a:endParaRPr lang="en-US" sz="2800">
              <a:solidFill>
                <a:srgbClr val="263449"/>
              </a:solidFill>
              <a:latin typeface="Aptos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63449"/>
                </a:solidFill>
                <a:latin typeface="Aptos"/>
              </a:rPr>
              <a:t>Performance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263449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263449"/>
              </a:solidFill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D0A82F-AE4A-47E5-B00B-6B48BC25619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0F1DE-D632-475F-9986-9891661A631C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06BCC-3077-40BF-A2C3-1BB4105B73C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F5E26A-0BB8-4B43-93B2-F9228E99A406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999352-CA6E-4BAF-A4CE-1D834A0E2C6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122D2-8669-418A-9EED-9FD8FC6A225E}"/>
              </a:ext>
            </a:extLst>
          </p:cNvPr>
          <p:cNvSpPr txBox="1"/>
          <p:nvPr/>
        </p:nvSpPr>
        <p:spPr>
          <a:xfrm>
            <a:off x="736600" y="304800"/>
            <a:ext cx="1109599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pPr algn="l"/>
            <a:r>
              <a:rPr lang="en-US" sz="2900" b="1">
                <a:solidFill>
                  <a:srgbClr val="202C4A"/>
                </a:solidFill>
                <a:latin typeface="Aptos Display"/>
              </a:rPr>
              <a:t>Goals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BE191-BBDE-CD7B-1AD9-EB8E9DB9B2A9}"/>
              </a:ext>
            </a:extLst>
          </p:cNvPr>
          <p:cNvSpPr txBox="1"/>
          <p:nvPr/>
        </p:nvSpPr>
        <p:spPr>
          <a:xfrm>
            <a:off x="739140" y="5273040"/>
            <a:ext cx="47548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strike="sngStrike" dirty="0">
                <a:solidFill>
                  <a:srgbClr val="FF0000"/>
                </a:solidFill>
              </a:rPr>
              <a:t>Production ready library </a:t>
            </a:r>
            <a:endParaRPr lang="en-US" sz="2800" strike="sngStrike" dirty="0"/>
          </a:p>
        </p:txBody>
      </p:sp>
    </p:spTree>
    <p:extLst>
      <p:ext uri="{BB962C8B-B14F-4D97-AF65-F5344CB8AC3E}">
        <p14:creationId xmlns:p14="http://schemas.microsoft.com/office/powerpoint/2010/main" val="400974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77B6E-A9EA-75BD-612F-A4E06783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619992-7513-2F92-539A-60A646565BD1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82AD4-D0C2-2780-1AEC-3434529B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False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D101-B0D2-FFBE-2BB0-509D2C33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38" y="1404603"/>
            <a:ext cx="10515600" cy="4617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263449"/>
              </a:solidFill>
              <a:latin typeface="Aptos"/>
            </a:endParaRPr>
          </a:p>
          <a:p>
            <a:pPr marL="0" indent="0">
              <a:buNone/>
            </a:pPr>
            <a:endParaRPr lang="en-US" dirty="0">
              <a:solidFill>
                <a:srgbClr val="263449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1DD83-26D4-BEC0-6EA3-F47E5666EF3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DFF9D0-A79E-B10A-176E-7124DB44E881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16DDA0-6453-829A-163E-A457D675FD85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32C6AD-DB4F-3D1D-9C70-1A85011D9BDD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405C4-A532-5F02-0E3B-6E27B167A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4511"/>
            <a:ext cx="12192000" cy="637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9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D42F71-3018-493E-A02F-796299914A9F}"/>
              </a:ext>
            </a:extLst>
          </p:cNvPr>
          <p:cNvSpPr/>
          <p:nvPr/>
        </p:nvSpPr>
        <p:spPr>
          <a:xfrm>
            <a:off x="6070600" y="1917700"/>
            <a:ext cx="5257800" cy="2717800"/>
          </a:xfrm>
          <a:prstGeom prst="rect">
            <a:avLst/>
          </a:prstGeom>
          <a:solidFill>
            <a:srgbClr val="FAFBFC"/>
          </a:solidFill>
          <a:ln w="12700" cap="flat" cmpd="sng" algn="ctr">
            <a:solidFill>
              <a:srgbClr val="DCE3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B538D3-9F80-42EF-A941-78BFEA9296E9}"/>
              </a:ext>
            </a:extLst>
          </p:cNvPr>
          <p:cNvSpPr/>
          <p:nvPr/>
        </p:nvSpPr>
        <p:spPr>
          <a:xfrm>
            <a:off x="863600" y="1917700"/>
            <a:ext cx="5003800" cy="2717800"/>
          </a:xfrm>
          <a:prstGeom prst="rect">
            <a:avLst/>
          </a:prstGeom>
          <a:solidFill>
            <a:srgbClr val="FAFBFC"/>
          </a:solidFill>
          <a:ln w="12700" cap="flat" cmpd="sng" algn="ctr">
            <a:solidFill>
              <a:srgbClr val="DCE3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DD18BA-DA91-432C-81E0-3E9F01A47334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452695-78FB-47F5-B707-46A906421638}"/>
              </a:ext>
            </a:extLst>
          </p:cNvPr>
          <p:cNvSpPr/>
          <p:nvPr/>
        </p:nvSpPr>
        <p:spPr>
          <a:xfrm>
            <a:off x="457378" y="1295237"/>
            <a:ext cx="11572489" cy="4616295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E9BAA-9FD3-D8E0-F975-552A67DC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Atomics make shared updates indivisible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7F6B70-18E9-483C-8FB9-FB4BF492E71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EEEF3-C66B-4E0E-9E0F-D7FDF87592B6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6C7788-8654-40FF-87A5-5EC79C9FA58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5171F-5C7A-4F0D-A3CD-9DE681430A6F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B3887-0A9F-4CDA-ACED-C7286C20E9B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C3D39-0547-4117-A8C4-78787D7AA51A}"/>
              </a:ext>
            </a:extLst>
          </p:cNvPr>
          <p:cNvSpPr txBox="1"/>
          <p:nvPr/>
        </p:nvSpPr>
        <p:spPr>
          <a:xfrm>
            <a:off x="736600" y="304800"/>
            <a:ext cx="1500860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Atomics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893C1-A401-45BA-BD58-868802B79DD3}"/>
              </a:ext>
            </a:extLst>
          </p:cNvPr>
          <p:cNvSpPr txBox="1"/>
          <p:nvPr/>
        </p:nvSpPr>
        <p:spPr>
          <a:xfrm>
            <a:off x="737839" y="839749"/>
            <a:ext cx="10541000" cy="3556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r>
              <a:rPr lang="en-US" sz="2800" dirty="0">
                <a:solidFill>
                  <a:srgbClr val="2F3E56"/>
                </a:solidFill>
                <a:latin typeface="Aptos"/>
                <a:cs typeface="Arial"/>
              </a:rPr>
              <a:t>Operations appear as a single indivisible step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1BF51D-BCF4-4ABE-BCD6-326FA7130C7B}"/>
              </a:ext>
            </a:extLst>
          </p:cNvPr>
          <p:cNvSpPr/>
          <p:nvPr/>
        </p:nvSpPr>
        <p:spPr>
          <a:xfrm>
            <a:off x="1041400" y="2057400"/>
            <a:ext cx="1422400" cy="304800"/>
          </a:xfrm>
          <a:prstGeom prst="roundRect">
            <a:avLst/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050" b="1">
                <a:solidFill>
                  <a:srgbClr val="A33A3A"/>
                </a:solidFill>
                <a:latin typeface="Arial"/>
                <a:cs typeface="Arial"/>
              </a:rPr>
              <a:t>ORDINARY 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98D0C-17DB-471D-A85D-E3E34E425DCF}"/>
              </a:ext>
            </a:extLst>
          </p:cNvPr>
          <p:cNvSpPr txBox="1"/>
          <p:nvPr/>
        </p:nvSpPr>
        <p:spPr>
          <a:xfrm>
            <a:off x="2641600" y="20574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66758A"/>
                </a:solidFill>
                <a:latin typeface="Arial"/>
                <a:cs typeface="Arial"/>
              </a:rPr>
              <a:t>counter++ is three separate steps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9EFAA4-3057-4940-BA80-EFFD76ADB849}"/>
              </a:ext>
            </a:extLst>
          </p:cNvPr>
          <p:cNvSpPr/>
          <p:nvPr/>
        </p:nvSpPr>
        <p:spPr>
          <a:xfrm>
            <a:off x="6248400" y="2057400"/>
            <a:ext cx="1676400" cy="304800"/>
          </a:xfrm>
          <a:prstGeom prst="roundRect">
            <a:avLst/>
          </a:prstGeom>
          <a:solidFill>
            <a:srgbClr val="E6F5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050" b="1">
                <a:solidFill>
                  <a:srgbClr val="24733F"/>
                </a:solidFill>
                <a:latin typeface="Arial"/>
                <a:cs typeface="Arial"/>
              </a:rPr>
              <a:t>std::atomic&lt;int&gt;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457F5A-95A7-4866-B88D-2138BED8EC83}"/>
              </a:ext>
            </a:extLst>
          </p:cNvPr>
          <p:cNvSpPr txBox="1"/>
          <p:nvPr/>
        </p:nvSpPr>
        <p:spPr>
          <a:xfrm>
            <a:off x="8102600" y="20574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66758A"/>
                </a:solidFill>
                <a:latin typeface="Arial"/>
                <a:cs typeface="Arial"/>
              </a:rPr>
              <a:t>fetch_add is one indivisible RMW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B43A38-9A43-490B-894B-8839DDCC787F}"/>
              </a:ext>
            </a:extLst>
          </p:cNvPr>
          <p:cNvSpPr txBox="1"/>
          <p:nvPr/>
        </p:nvSpPr>
        <p:spPr>
          <a:xfrm>
            <a:off x="1041400" y="2578100"/>
            <a:ext cx="330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20314F"/>
                </a:solidFill>
                <a:latin typeface="Arial"/>
                <a:cs typeface="Arial"/>
              </a:rPr>
              <a:t>T0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386E0C-96FC-4F6F-A647-9B48276E02AD}"/>
              </a:ext>
            </a:extLst>
          </p:cNvPr>
          <p:cNvSpPr/>
          <p:nvPr/>
        </p:nvSpPr>
        <p:spPr>
          <a:xfrm>
            <a:off x="1473200" y="2565400"/>
            <a:ext cx="914400" cy="381000"/>
          </a:xfrm>
          <a:prstGeom prst="roundRect">
            <a:avLst/>
          </a:prstGeom>
          <a:solidFill>
            <a:srgbClr val="F3F5F8"/>
          </a:solidFill>
          <a:ln w="12700" cap="flat" cmpd="sng" algn="ctr">
            <a:solidFill>
              <a:srgbClr val="B8C3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950" b="1">
                <a:solidFill>
                  <a:srgbClr val="20314F"/>
                </a:solidFill>
                <a:latin typeface="Courier New"/>
                <a:cs typeface="Courier New"/>
              </a:rPr>
              <a:t>load 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9776742-71C4-4390-8E2F-F57FE2380109}"/>
              </a:ext>
            </a:extLst>
          </p:cNvPr>
          <p:cNvSpPr/>
          <p:nvPr/>
        </p:nvSpPr>
        <p:spPr>
          <a:xfrm>
            <a:off x="2463800" y="2692400"/>
            <a:ext cx="254000" cy="127000"/>
          </a:xfrm>
          <a:prstGeom prst="rightArrow">
            <a:avLst/>
          </a:prstGeom>
          <a:solidFill>
            <a:srgbClr val="D85B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1096F4-A5E6-45AE-9D69-66730A58F56F}"/>
              </a:ext>
            </a:extLst>
          </p:cNvPr>
          <p:cNvSpPr/>
          <p:nvPr/>
        </p:nvSpPr>
        <p:spPr>
          <a:xfrm>
            <a:off x="2794000" y="2565400"/>
            <a:ext cx="736600" cy="381000"/>
          </a:xfrm>
          <a:prstGeom prst="roundRect">
            <a:avLst/>
          </a:prstGeom>
          <a:solidFill>
            <a:srgbClr val="F3F5F8"/>
          </a:solidFill>
          <a:ln w="12700" cap="flat" cmpd="sng" algn="ctr">
            <a:solidFill>
              <a:srgbClr val="B8C3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950" b="1">
                <a:solidFill>
                  <a:srgbClr val="20314F"/>
                </a:solidFill>
                <a:latin typeface="Courier New"/>
                <a:cs typeface="Courier New"/>
              </a:rPr>
              <a:t>+ 1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105EB55F-C2C0-4FD5-9E5A-3C71A201F634}"/>
              </a:ext>
            </a:extLst>
          </p:cNvPr>
          <p:cNvSpPr/>
          <p:nvPr/>
        </p:nvSpPr>
        <p:spPr>
          <a:xfrm>
            <a:off x="3606800" y="2692400"/>
            <a:ext cx="254000" cy="127000"/>
          </a:xfrm>
          <a:prstGeom prst="rightArrow">
            <a:avLst/>
          </a:prstGeom>
          <a:solidFill>
            <a:srgbClr val="D85B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AF17B9F-41B5-462B-9B31-04986B2113EC}"/>
              </a:ext>
            </a:extLst>
          </p:cNvPr>
          <p:cNvSpPr/>
          <p:nvPr/>
        </p:nvSpPr>
        <p:spPr>
          <a:xfrm>
            <a:off x="3937000" y="2565400"/>
            <a:ext cx="1041400" cy="381000"/>
          </a:xfrm>
          <a:prstGeom prst="roundRect">
            <a:avLst/>
          </a:prstGeom>
          <a:solidFill>
            <a:srgbClr val="FFF0EF"/>
          </a:solidFill>
          <a:ln w="12700" cap="flat" cmpd="sng" algn="ctr">
            <a:solidFill>
              <a:srgbClr val="D85B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950" b="1">
                <a:solidFill>
                  <a:srgbClr val="20314F"/>
                </a:solidFill>
                <a:latin typeface="Courier New"/>
                <a:cs typeface="Courier New"/>
              </a:rPr>
              <a:t>store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65B4BB-BE28-4DB4-BCA7-FDB4D8DD94AD}"/>
              </a:ext>
            </a:extLst>
          </p:cNvPr>
          <p:cNvSpPr txBox="1"/>
          <p:nvPr/>
        </p:nvSpPr>
        <p:spPr>
          <a:xfrm>
            <a:off x="1041400" y="3162300"/>
            <a:ext cx="3302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20314F"/>
                </a:solidFill>
                <a:latin typeface="Arial"/>
                <a:cs typeface="Arial"/>
              </a:rPr>
              <a:t>T1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B77BDD4-CF9D-4C57-A31C-D2ADEF6438FE}"/>
              </a:ext>
            </a:extLst>
          </p:cNvPr>
          <p:cNvSpPr/>
          <p:nvPr/>
        </p:nvSpPr>
        <p:spPr>
          <a:xfrm>
            <a:off x="1473200" y="3149600"/>
            <a:ext cx="914400" cy="381000"/>
          </a:xfrm>
          <a:prstGeom prst="roundRect">
            <a:avLst/>
          </a:prstGeom>
          <a:solidFill>
            <a:srgbClr val="F3F5F8"/>
          </a:solidFill>
          <a:ln w="12700" cap="flat" cmpd="sng" algn="ctr">
            <a:solidFill>
              <a:srgbClr val="B8C3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950" b="1">
                <a:solidFill>
                  <a:srgbClr val="20314F"/>
                </a:solidFill>
                <a:latin typeface="Courier New"/>
                <a:cs typeface="Courier New"/>
              </a:rPr>
              <a:t>load 0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9348365-CE28-4D8E-BD40-6A7FC7B2399D}"/>
              </a:ext>
            </a:extLst>
          </p:cNvPr>
          <p:cNvSpPr/>
          <p:nvPr/>
        </p:nvSpPr>
        <p:spPr>
          <a:xfrm>
            <a:off x="2463800" y="3276600"/>
            <a:ext cx="254000" cy="127000"/>
          </a:xfrm>
          <a:prstGeom prst="rightArrow">
            <a:avLst/>
          </a:prstGeom>
          <a:solidFill>
            <a:srgbClr val="D85B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6C2C017-2F95-4AED-A0EB-88B125743783}"/>
              </a:ext>
            </a:extLst>
          </p:cNvPr>
          <p:cNvSpPr/>
          <p:nvPr/>
        </p:nvSpPr>
        <p:spPr>
          <a:xfrm>
            <a:off x="2794000" y="3149600"/>
            <a:ext cx="736600" cy="381000"/>
          </a:xfrm>
          <a:prstGeom prst="roundRect">
            <a:avLst/>
          </a:prstGeom>
          <a:solidFill>
            <a:srgbClr val="F3F5F8"/>
          </a:solidFill>
          <a:ln w="12700" cap="flat" cmpd="sng" algn="ctr">
            <a:solidFill>
              <a:srgbClr val="B8C3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950" b="1">
                <a:solidFill>
                  <a:srgbClr val="20314F"/>
                </a:solidFill>
                <a:latin typeface="Courier New"/>
                <a:cs typeface="Courier New"/>
              </a:rPr>
              <a:t>+ 1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E24490B-C6D7-4F89-A800-4940DE89A77B}"/>
              </a:ext>
            </a:extLst>
          </p:cNvPr>
          <p:cNvSpPr/>
          <p:nvPr/>
        </p:nvSpPr>
        <p:spPr>
          <a:xfrm>
            <a:off x="3606800" y="3276600"/>
            <a:ext cx="254000" cy="127000"/>
          </a:xfrm>
          <a:prstGeom prst="rightArrow">
            <a:avLst/>
          </a:prstGeom>
          <a:solidFill>
            <a:srgbClr val="D85B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67AC1DD-B311-4E92-B946-F88FAA6798D5}"/>
              </a:ext>
            </a:extLst>
          </p:cNvPr>
          <p:cNvSpPr/>
          <p:nvPr/>
        </p:nvSpPr>
        <p:spPr>
          <a:xfrm>
            <a:off x="3937000" y="3149600"/>
            <a:ext cx="1041400" cy="381000"/>
          </a:xfrm>
          <a:prstGeom prst="roundRect">
            <a:avLst/>
          </a:prstGeom>
          <a:solidFill>
            <a:srgbClr val="FFF0EF"/>
          </a:solidFill>
          <a:ln w="12700" cap="flat" cmpd="sng" algn="ctr">
            <a:solidFill>
              <a:srgbClr val="D85B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950" b="1">
                <a:solidFill>
                  <a:srgbClr val="20314F"/>
                </a:solidFill>
                <a:latin typeface="Courier New"/>
                <a:cs typeface="Courier New"/>
              </a:rPr>
              <a:t>store 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AA4B023-9482-4535-A11B-A60C00E4C9EE}"/>
              </a:ext>
            </a:extLst>
          </p:cNvPr>
          <p:cNvSpPr/>
          <p:nvPr/>
        </p:nvSpPr>
        <p:spPr>
          <a:xfrm>
            <a:off x="2139902" y="3783168"/>
            <a:ext cx="2032000" cy="330200"/>
          </a:xfrm>
          <a:prstGeom prst="roundRect">
            <a:avLst/>
          </a:prstGeom>
          <a:solidFill>
            <a:srgbClr val="FDEAEA"/>
          </a:solidFill>
          <a:ln w="12700" cap="flat" cmpd="sng" algn="ctr">
            <a:solidFill>
              <a:srgbClr val="D85B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rmAutofit/>
          </a:bodyPr>
          <a:lstStyle/>
          <a:p>
            <a:pPr algn="ctr"/>
            <a:r>
              <a:rPr lang="en-US" sz="1000" b="1" dirty="0">
                <a:solidFill>
                  <a:srgbClr val="A33A3A"/>
                </a:solidFill>
                <a:latin typeface="Courier New"/>
                <a:cs typeface="Courier New"/>
              </a:rPr>
              <a:t>final counter = 1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1002F2E-CCDA-4878-A275-50650874CCC3}"/>
              </a:ext>
            </a:extLst>
          </p:cNvPr>
          <p:cNvSpPr/>
          <p:nvPr/>
        </p:nvSpPr>
        <p:spPr>
          <a:xfrm>
            <a:off x="6426200" y="3009900"/>
            <a:ext cx="482600" cy="482600"/>
          </a:xfrm>
          <a:prstGeom prst="ellipse">
            <a:avLst/>
          </a:prstGeom>
          <a:solidFill>
            <a:srgbClr val="F3F5F8"/>
          </a:solidFill>
          <a:ln w="12700" cap="flat" cmpd="sng" algn="ctr">
            <a:solidFill>
              <a:srgbClr val="9AA8B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20314F"/>
                </a:solidFill>
                <a:latin typeface="Courier New"/>
                <a:cs typeface="Courier New"/>
              </a:rPr>
              <a:t>0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962DCD4-961C-4C85-BABD-EBF1C1DA5D02}"/>
              </a:ext>
            </a:extLst>
          </p:cNvPr>
          <p:cNvSpPr/>
          <p:nvPr/>
        </p:nvSpPr>
        <p:spPr>
          <a:xfrm>
            <a:off x="6985000" y="3187700"/>
            <a:ext cx="330200" cy="127000"/>
          </a:xfrm>
          <a:prstGeom prst="rightArrow">
            <a:avLst/>
          </a:prstGeom>
          <a:solidFill>
            <a:srgbClr val="35A15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92622DD-62E9-47BC-A751-9D909C6472E2}"/>
              </a:ext>
            </a:extLst>
          </p:cNvPr>
          <p:cNvSpPr/>
          <p:nvPr/>
        </p:nvSpPr>
        <p:spPr>
          <a:xfrm>
            <a:off x="7391400" y="2984500"/>
            <a:ext cx="965200" cy="533400"/>
          </a:xfrm>
          <a:prstGeom prst="roundRect">
            <a:avLst/>
          </a:prstGeom>
          <a:solidFill>
            <a:srgbClr val="F0FAF3"/>
          </a:solidFill>
          <a:ln w="12700" cap="flat" cmpd="sng" algn="ctr">
            <a:solidFill>
              <a:srgbClr val="74A98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000" b="1">
                <a:solidFill>
                  <a:srgbClr val="20314F"/>
                </a:solidFill>
                <a:latin typeface="Courier New"/>
                <a:cs typeface="Courier New"/>
              </a:rPr>
              <a:t>T0 +1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AD42284-BD4E-43E1-BFB9-F4A4FC5C1A0B}"/>
              </a:ext>
            </a:extLst>
          </p:cNvPr>
          <p:cNvSpPr/>
          <p:nvPr/>
        </p:nvSpPr>
        <p:spPr>
          <a:xfrm>
            <a:off x="8432800" y="3187700"/>
            <a:ext cx="330200" cy="127000"/>
          </a:xfrm>
          <a:prstGeom prst="rightArrow">
            <a:avLst/>
          </a:prstGeom>
          <a:solidFill>
            <a:srgbClr val="35A15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0FCDEB9-3270-419A-9464-B2821E7065C4}"/>
              </a:ext>
            </a:extLst>
          </p:cNvPr>
          <p:cNvSpPr/>
          <p:nvPr/>
        </p:nvSpPr>
        <p:spPr>
          <a:xfrm>
            <a:off x="8839200" y="3009900"/>
            <a:ext cx="482600" cy="482600"/>
          </a:xfrm>
          <a:prstGeom prst="ellipse">
            <a:avLst/>
          </a:prstGeom>
          <a:solidFill>
            <a:srgbClr val="F3F5F8"/>
          </a:solidFill>
          <a:ln w="12700" cap="flat" cmpd="sng" algn="ctr">
            <a:solidFill>
              <a:srgbClr val="9AA8B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20314F"/>
                </a:solidFill>
                <a:latin typeface="Courier New"/>
                <a:cs typeface="Courier New"/>
              </a:rPr>
              <a:t>1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D10F53E-2610-40DA-ACC4-C8D6488FAD30}"/>
              </a:ext>
            </a:extLst>
          </p:cNvPr>
          <p:cNvSpPr/>
          <p:nvPr/>
        </p:nvSpPr>
        <p:spPr>
          <a:xfrm>
            <a:off x="9398000" y="3187700"/>
            <a:ext cx="330200" cy="127000"/>
          </a:xfrm>
          <a:prstGeom prst="rightArrow">
            <a:avLst/>
          </a:prstGeom>
          <a:solidFill>
            <a:srgbClr val="35A15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2B40F9E-183A-44E9-B4F2-12D6093AE7D5}"/>
              </a:ext>
            </a:extLst>
          </p:cNvPr>
          <p:cNvSpPr/>
          <p:nvPr/>
        </p:nvSpPr>
        <p:spPr>
          <a:xfrm>
            <a:off x="9804400" y="2984500"/>
            <a:ext cx="965200" cy="533400"/>
          </a:xfrm>
          <a:prstGeom prst="roundRect">
            <a:avLst/>
          </a:prstGeom>
          <a:solidFill>
            <a:srgbClr val="F0FAF3"/>
          </a:solidFill>
          <a:ln w="12700" cap="flat" cmpd="sng" algn="ctr">
            <a:solidFill>
              <a:srgbClr val="74A98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000" b="1">
                <a:solidFill>
                  <a:srgbClr val="20314F"/>
                </a:solidFill>
                <a:latin typeface="Courier New"/>
                <a:cs typeface="Courier New"/>
              </a:rPr>
              <a:t>T1 +1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6954082-6778-472A-9553-4A1850EB03E3}"/>
              </a:ext>
            </a:extLst>
          </p:cNvPr>
          <p:cNvSpPr/>
          <p:nvPr/>
        </p:nvSpPr>
        <p:spPr>
          <a:xfrm>
            <a:off x="7470083" y="3763115"/>
            <a:ext cx="2260600" cy="355600"/>
          </a:xfrm>
          <a:prstGeom prst="roundRect">
            <a:avLst/>
          </a:prstGeom>
          <a:solidFill>
            <a:srgbClr val="E6F5EA"/>
          </a:solidFill>
          <a:ln w="12700" cap="flat" cmpd="sng" algn="ctr">
            <a:solidFill>
              <a:srgbClr val="35A1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91440" tIns="45720" rIns="91440" bIns="45720" rtlCol="0" anchor="ctr" anchorCtr="0">
            <a:normAutofit/>
          </a:bodyPr>
          <a:lstStyle/>
          <a:p>
            <a:pPr algn="ctr"/>
            <a:r>
              <a:rPr lang="en-US" sz="1050" b="1">
                <a:solidFill>
                  <a:srgbClr val="24733F"/>
                </a:solidFill>
                <a:latin typeface="Courier New"/>
                <a:cs typeface="Courier New"/>
              </a:rPr>
              <a:t>final counter = 2</a:t>
            </a:r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36545D1-30C4-4DF6-BE1D-25C084BAA362}"/>
              </a:ext>
            </a:extLst>
          </p:cNvPr>
          <p:cNvSpPr/>
          <p:nvPr/>
        </p:nvSpPr>
        <p:spPr>
          <a:xfrm>
            <a:off x="3505889" y="4840552"/>
            <a:ext cx="5003800" cy="965200"/>
          </a:xfrm>
          <a:prstGeom prst="roundRect">
            <a:avLst/>
          </a:prstGeom>
          <a:solidFill>
            <a:srgbClr val="2031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B285AB-0CC7-45C9-A068-02F240B1A1FB}"/>
              </a:ext>
            </a:extLst>
          </p:cNvPr>
          <p:cNvSpPr txBox="1"/>
          <p:nvPr/>
        </p:nvSpPr>
        <p:spPr>
          <a:xfrm>
            <a:off x="5298287" y="4951281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4A11A"/>
                </a:solidFill>
                <a:latin typeface="Arial"/>
                <a:cs typeface="Arial"/>
              </a:rPr>
              <a:t>ATOMIC TOOLBOX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8731CF-A97E-4DC7-94DD-B508083FA078}"/>
              </a:ext>
            </a:extLst>
          </p:cNvPr>
          <p:cNvSpPr txBox="1"/>
          <p:nvPr/>
        </p:nvSpPr>
        <p:spPr>
          <a:xfrm>
            <a:off x="3768558" y="5292462"/>
            <a:ext cx="4597400" cy="3048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Autofit/>
          </a:bodyPr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ourier New"/>
                <a:cs typeface="Courier New"/>
              </a:rPr>
              <a:t>load · store · exchange · </a:t>
            </a:r>
            <a:r>
              <a:rPr lang="en-US" sz="950" b="1" dirty="0" err="1">
                <a:solidFill>
                  <a:srgbClr val="FFFFFF"/>
                </a:solidFill>
                <a:latin typeface="Courier New"/>
                <a:cs typeface="Courier New"/>
              </a:rPr>
              <a:t>fetch_add</a:t>
            </a:r>
            <a:r>
              <a:rPr lang="en-US" sz="950" b="1" dirty="0">
                <a:solidFill>
                  <a:srgbClr val="FFFFFF"/>
                </a:solidFill>
                <a:latin typeface="Courier New"/>
                <a:cs typeface="Courier New"/>
              </a:rPr>
              <a:t> · </a:t>
            </a:r>
            <a:r>
              <a:rPr lang="en-US" sz="950" b="1" dirty="0" err="1">
                <a:solidFill>
                  <a:srgbClr val="FFFFFF"/>
                </a:solidFill>
                <a:latin typeface="Courier New"/>
                <a:cs typeface="Courier New"/>
              </a:rPr>
              <a:t>compare_exchange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1B99634-E5FF-4769-BAE4-B29A7FA28194}"/>
              </a:ext>
            </a:extLst>
          </p:cNvPr>
          <p:cNvSpPr txBox="1"/>
          <p:nvPr/>
        </p:nvSpPr>
        <p:spPr>
          <a:xfrm>
            <a:off x="6655182" y="4429722"/>
            <a:ext cx="4508500" cy="203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950">
                <a:solidFill>
                  <a:srgbClr val="66758A"/>
                </a:solidFill>
                <a:latin typeface="Arial"/>
                <a:cs typeface="Arial"/>
              </a:rPr>
              <a:t>Lock-free is implementation-dependent; query is_lock_free().</a:t>
            </a:r>
          </a:p>
        </p:txBody>
      </p:sp>
    </p:spTree>
    <p:extLst>
      <p:ext uri="{BB962C8B-B14F-4D97-AF65-F5344CB8AC3E}">
        <p14:creationId xmlns:p14="http://schemas.microsoft.com/office/powerpoint/2010/main" val="118209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5" grpId="0" animBg="1"/>
      <p:bldP spid="46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70658-0000-3B16-840B-D8F1F0EC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C4EE04-F88D-0E9D-8F95-8DB8CD8F3E22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E5321E-2004-B36A-CE89-BFB98557EAB6}"/>
              </a:ext>
            </a:extLst>
          </p:cNvPr>
          <p:cNvSpPr/>
          <p:nvPr/>
        </p:nvSpPr>
        <p:spPr>
          <a:xfrm>
            <a:off x="35313" y="1239262"/>
            <a:ext cx="12130667" cy="5204831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88F9A-89F3-2087-FB55-BDD8BA68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Atomics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056783-E4C0-34E4-907E-380170CC0C6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37CE2-08FE-8520-6589-0EC7024E722D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0D71A-742B-4DFE-8174-0D77CA4B8E7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5467D-9033-2F3A-86A8-80749E044E31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B93C61-9E89-50BB-42FD-CECDCB852C4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933CB-83B5-EAB5-386D-B70E7CBD3939}"/>
              </a:ext>
            </a:extLst>
          </p:cNvPr>
          <p:cNvSpPr txBox="1"/>
          <p:nvPr/>
        </p:nvSpPr>
        <p:spPr>
          <a:xfrm>
            <a:off x="736600" y="304800"/>
            <a:ext cx="3393237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n-lt"/>
                <a:cs typeface="+mn-lt"/>
              </a:rPr>
              <a:t>Look under the hood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0E2F76-ACBC-DB99-5820-354823955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7272"/>
            <a:ext cx="12192000" cy="551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1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4843DD-752F-4067-B6BA-7FD102CEB05D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34E87-0B95-42B2-8AA9-A23A495F4E5B}"/>
              </a:ext>
            </a:extLst>
          </p:cNvPr>
          <p:cNvSpPr/>
          <p:nvPr/>
        </p:nvSpPr>
        <p:spPr>
          <a:xfrm>
            <a:off x="542567" y="1194468"/>
            <a:ext cx="10820400" cy="50419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algn="l"/>
            <a:endParaRPr lang="en-US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31F9F-F2F3-46CE-09DE-ACC0432A4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False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5EB19-4DD6-A153-9BD9-2C1B89EF9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38" y="1404603"/>
            <a:ext cx="10515600" cy="46176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63449"/>
                </a:solidFill>
                <a:ea typeface="+mn-lt"/>
                <a:cs typeface="+mn-lt"/>
              </a:rPr>
              <a:t>Independent variables contend if they share a cache line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263449"/>
              </a:solidFill>
              <a:latin typeface="Aptos"/>
            </a:endParaRPr>
          </a:p>
          <a:p>
            <a:pPr marL="0" indent="0">
              <a:buNone/>
            </a:pPr>
            <a:endParaRPr lang="en-US" dirty="0">
              <a:solidFill>
                <a:srgbClr val="263449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D1F132-76E6-4900-BD6F-F53DD49D2CB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06F69-0664-489D-9F10-3423AAFC851A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172477-A972-4898-B48B-CE5AC2ECB0D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89E10B-6F17-49FB-93EF-BF0B81420322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D58AF8-6BEE-4AAB-96CE-215AD04FFF2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5B2D50-1587-4693-B1FF-CFDEDBCB8BD4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2900" b="1">
                <a:solidFill>
                  <a:srgbClr val="202C4A"/>
                </a:solidFill>
                <a:latin typeface="Aptos Display"/>
              </a:rPr>
              <a:t>False sharing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1BBF7B-00A7-41BE-BCFE-B82E86236EB9}"/>
              </a:ext>
            </a:extLst>
          </p:cNvPr>
          <p:cNvSpPr/>
          <p:nvPr/>
        </p:nvSpPr>
        <p:spPr>
          <a:xfrm>
            <a:off x="1587500" y="2857500"/>
            <a:ext cx="2286000" cy="584200"/>
          </a:xfrm>
          <a:prstGeom prst="roundRect">
            <a:avLst/>
          </a:prstGeom>
          <a:solidFill>
            <a:srgbClr val="1F2F4A"/>
          </a:solidFill>
          <a:ln w="12700" cap="flat" cmpd="sng" algn="ctr">
            <a:solidFill>
              <a:srgbClr val="1F2F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CORE 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732481-84C3-43EF-BE87-DE62205187FC}"/>
              </a:ext>
            </a:extLst>
          </p:cNvPr>
          <p:cNvSpPr/>
          <p:nvPr/>
        </p:nvSpPr>
        <p:spPr>
          <a:xfrm>
            <a:off x="1587500" y="3556000"/>
            <a:ext cx="2286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5A62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F2F4A"/>
                </a:solidFill>
                <a:latin typeface="Arial"/>
                <a:cs typeface="Arial"/>
              </a:rPr>
              <a:t>L1 / L2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3F739D2-A0AA-4243-87C8-4D6A9706AB40}"/>
              </a:ext>
            </a:extLst>
          </p:cNvPr>
          <p:cNvSpPr/>
          <p:nvPr/>
        </p:nvSpPr>
        <p:spPr>
          <a:xfrm>
            <a:off x="8318500" y="2857500"/>
            <a:ext cx="2286000" cy="584200"/>
          </a:xfrm>
          <a:prstGeom prst="roundRect">
            <a:avLst/>
          </a:prstGeom>
          <a:solidFill>
            <a:srgbClr val="1F2F4A"/>
          </a:solidFill>
          <a:ln w="12700" cap="flat" cmpd="sng" algn="ctr">
            <a:solidFill>
              <a:srgbClr val="1F2F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CORE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3B103D-92D1-4081-A95E-38E53AA22AAD}"/>
              </a:ext>
            </a:extLst>
          </p:cNvPr>
          <p:cNvSpPr/>
          <p:nvPr/>
        </p:nvSpPr>
        <p:spPr>
          <a:xfrm>
            <a:off x="8318500" y="3556000"/>
            <a:ext cx="2286000" cy="45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953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400" b="1">
                <a:solidFill>
                  <a:srgbClr val="1F2F4A"/>
                </a:solidFill>
                <a:latin typeface="Arial"/>
                <a:cs typeface="Arial"/>
              </a:rPr>
              <a:t>L1 / L2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3639FDE-CA32-4297-A498-B70C8398DDEE}"/>
              </a:ext>
            </a:extLst>
          </p:cNvPr>
          <p:cNvSpPr/>
          <p:nvPr/>
        </p:nvSpPr>
        <p:spPr>
          <a:xfrm>
            <a:off x="1905000" y="4343400"/>
            <a:ext cx="1473200" cy="431800"/>
          </a:xfrm>
          <a:prstGeom prst="roundRect">
            <a:avLst/>
          </a:prstGeom>
          <a:solidFill>
            <a:srgbClr val="FFF3DF"/>
          </a:solidFill>
          <a:ln w="12700" cap="flat" cmpd="sng" algn="ctr">
            <a:solidFill>
              <a:srgbClr val="F5A62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1F2F4A"/>
                </a:solidFill>
                <a:latin typeface="Arial"/>
                <a:cs typeface="Arial"/>
              </a:rPr>
              <a:t>atomic A++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BB10494-A16C-4D11-AACB-0706170FF23A}"/>
              </a:ext>
            </a:extLst>
          </p:cNvPr>
          <p:cNvSpPr/>
          <p:nvPr/>
        </p:nvSpPr>
        <p:spPr>
          <a:xfrm>
            <a:off x="8813800" y="4343400"/>
            <a:ext cx="1473200" cy="431800"/>
          </a:xfrm>
          <a:prstGeom prst="roundRect">
            <a:avLst/>
          </a:prstGeom>
          <a:solidFill>
            <a:srgbClr val="FCE8E6"/>
          </a:solidFill>
          <a:ln w="12700" cap="flat" cmpd="sng" algn="ctr">
            <a:solidFill>
              <a:srgbClr val="D953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1F2F4A"/>
                </a:solidFill>
                <a:latin typeface="Arial"/>
                <a:cs typeface="Arial"/>
              </a:rPr>
              <a:t>atomic B++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B2D97D4-B734-4E2B-98E9-3887BB7DBE5C}"/>
              </a:ext>
            </a:extLst>
          </p:cNvPr>
          <p:cNvSpPr/>
          <p:nvPr/>
        </p:nvSpPr>
        <p:spPr>
          <a:xfrm>
            <a:off x="4508500" y="4229100"/>
            <a:ext cx="3175000" cy="1168400"/>
          </a:xfrm>
          <a:prstGeom prst="roundRect">
            <a:avLst/>
          </a:prstGeom>
          <a:solidFill>
            <a:srgbClr val="EEF2F7"/>
          </a:solidFill>
          <a:ln w="12700" cap="flat" cmpd="sng" algn="ctr">
            <a:solidFill>
              <a:srgbClr val="5262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endParaRPr lang="en-US" sz="1200" b="1">
              <a:solidFill>
                <a:srgbClr val="1F2F4A"/>
              </a:solidFill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AE5C33-14AA-401F-B859-1FA29E89A2F1}"/>
              </a:ext>
            </a:extLst>
          </p:cNvPr>
          <p:cNvSpPr txBox="1"/>
          <p:nvPr/>
        </p:nvSpPr>
        <p:spPr>
          <a:xfrm>
            <a:off x="4889500" y="4318000"/>
            <a:ext cx="2413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00" b="1">
                <a:solidFill>
                  <a:srgbClr val="52627A"/>
                </a:solidFill>
                <a:latin typeface="Arial"/>
                <a:cs typeface="Arial"/>
              </a:rPr>
              <a:t>SAME CACHE LINE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4C4984-030E-4472-82B5-CEB6CA84F6EC}"/>
              </a:ext>
            </a:extLst>
          </p:cNvPr>
          <p:cNvSpPr/>
          <p:nvPr/>
        </p:nvSpPr>
        <p:spPr>
          <a:xfrm>
            <a:off x="4762500" y="4660900"/>
            <a:ext cx="1244600" cy="533400"/>
          </a:xfrm>
          <a:prstGeom prst="roundRect">
            <a:avLst/>
          </a:prstGeom>
          <a:solidFill>
            <a:srgbClr val="FFF3DF"/>
          </a:solidFill>
          <a:ln w="12700" cap="flat" cmpd="sng" algn="ctr">
            <a:solidFill>
              <a:srgbClr val="F5A62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1F2F4A"/>
                </a:solidFill>
                <a:latin typeface="Arial"/>
                <a:cs typeface="Arial"/>
              </a:rPr>
              <a:t>ATOMIC 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C74E34B-D984-47DA-BD52-52A90C5B5AE6}"/>
              </a:ext>
            </a:extLst>
          </p:cNvPr>
          <p:cNvSpPr/>
          <p:nvPr/>
        </p:nvSpPr>
        <p:spPr>
          <a:xfrm>
            <a:off x="6184900" y="4660900"/>
            <a:ext cx="1244600" cy="533400"/>
          </a:xfrm>
          <a:prstGeom prst="roundRect">
            <a:avLst/>
          </a:prstGeom>
          <a:solidFill>
            <a:srgbClr val="FCE8E6"/>
          </a:solidFill>
          <a:ln w="12700" cap="flat" cmpd="sng" algn="ctr">
            <a:solidFill>
              <a:srgbClr val="D953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sz="1200" b="1">
                <a:solidFill>
                  <a:srgbClr val="1F2F4A"/>
                </a:solidFill>
                <a:latin typeface="Arial"/>
                <a:cs typeface="Arial"/>
              </a:rPr>
              <a:t>ATOMIC B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78FCF8D-3600-4744-9A2E-049A6CCC02CE}"/>
              </a:ext>
            </a:extLst>
          </p:cNvPr>
          <p:cNvSpPr/>
          <p:nvPr/>
        </p:nvSpPr>
        <p:spPr>
          <a:xfrm>
            <a:off x="3378200" y="4445000"/>
            <a:ext cx="1155700" cy="279400"/>
          </a:xfrm>
          <a:prstGeom prst="rightArrow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Arrow: Left 36">
            <a:extLst>
              <a:ext uri="{FF2B5EF4-FFF2-40B4-BE49-F238E27FC236}">
                <a16:creationId xmlns:a16="http://schemas.microsoft.com/office/drawing/2014/main" id="{010043D9-3D4B-48FE-9899-6121C3583438}"/>
              </a:ext>
            </a:extLst>
          </p:cNvPr>
          <p:cNvSpPr/>
          <p:nvPr/>
        </p:nvSpPr>
        <p:spPr>
          <a:xfrm>
            <a:off x="7658100" y="4445000"/>
            <a:ext cx="1155700" cy="279400"/>
          </a:xfrm>
          <a:prstGeom prst="leftArrow">
            <a:avLst/>
          </a:prstGeom>
          <a:solidFill>
            <a:srgbClr val="D953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1AB4B2-3999-4A0B-B5B1-300B32783E2B}"/>
              </a:ext>
            </a:extLst>
          </p:cNvPr>
          <p:cNvSpPr txBox="1"/>
          <p:nvPr/>
        </p:nvSpPr>
        <p:spPr>
          <a:xfrm>
            <a:off x="2225225" y="5564992"/>
            <a:ext cx="7747000" cy="304800"/>
          </a:xfrm>
          <a:prstGeom prst="rect">
            <a:avLst/>
          </a:prstGeom>
          <a:noFill/>
        </p:spPr>
        <p:txBody>
          <a:bodyPr vertOverflow="overflow" vert="horz" wrap="square" lIns="91440" tIns="45720" rIns="91440" bIns="45720" rtlCol="0" anchor="ctr" anchorCtr="0">
            <a:normAutofit/>
          </a:bodyPr>
          <a:lstStyle/>
          <a:p>
            <a:pPr algn="ctr"/>
            <a:r>
              <a:rPr lang="en-US" sz="1300" b="1">
                <a:solidFill>
                  <a:srgbClr val="1F2F4A"/>
                </a:solidFill>
                <a:latin typeface="Arial"/>
                <a:cs typeface="Arial"/>
              </a:rPr>
              <a:t>Different atomics, same cache line → ownership still bounces (false sharing)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2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EB524E-5652-40B6-96C1-6BE44184C8CE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B813C-A095-453A-B0B0-BC03F3884D01}"/>
              </a:ext>
            </a:extLst>
          </p:cNvPr>
          <p:cNvSpPr/>
          <p:nvPr/>
        </p:nvSpPr>
        <p:spPr>
          <a:xfrm>
            <a:off x="668613" y="1562100"/>
            <a:ext cx="10854774" cy="4000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85B617-353D-3004-E915-1327E4DE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090AD-1374-4488-8C0D-3CB780694B2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A0BE90-6162-4A06-842C-BC509794D525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72904-9AD7-4585-A4F5-AD721872739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624F2C-E0C7-42C2-9460-AC8C4C3BF8CC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BAC5FE-333D-42BE-B818-390C11C3263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C4FDE-8097-42BA-84E4-35597132A97B}"/>
              </a:ext>
            </a:extLst>
          </p:cNvPr>
          <p:cNvSpPr txBox="1"/>
          <p:nvPr/>
        </p:nvSpPr>
        <p:spPr>
          <a:xfrm>
            <a:off x="736600" y="304800"/>
            <a:ext cx="1383712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 err="1">
                <a:solidFill>
                  <a:schemeClr val="accent2"/>
                </a:solidFill>
                <a:latin typeface="Aptos Display"/>
              </a:rPr>
              <a:t>alignas</a:t>
            </a:r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9ED3F0-E54F-0E87-58B3-A55E9BB7189A}"/>
              </a:ext>
            </a:extLst>
          </p:cNvPr>
          <p:cNvSpPr txBox="1"/>
          <p:nvPr/>
        </p:nvSpPr>
        <p:spPr>
          <a:xfrm>
            <a:off x="672946" y="1568332"/>
            <a:ext cx="1083565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Places data on specific byte boundaries like 16, 32, or 64 bytes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C4271-AFC5-B2C5-AA17-934FAC31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815" y="2182427"/>
            <a:ext cx="7723573" cy="338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2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D8B9D-5EAB-6E73-1DCA-C4183DF4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8B0737-4AC0-4E8E-F9AC-E08ECCFA16A1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D659E8-10EA-592D-6E72-A010E74CFB7D}"/>
              </a:ext>
            </a:extLst>
          </p:cNvPr>
          <p:cNvSpPr/>
          <p:nvPr/>
        </p:nvSpPr>
        <p:spPr>
          <a:xfrm>
            <a:off x="668613" y="1562100"/>
            <a:ext cx="10854774" cy="4000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D9D41-533F-5F3C-070A-6B4C9999B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9FBC32-6BA5-E2E7-6C32-9D9EC07D20E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1FC5D-10A6-2C28-84CA-C9CD997729FB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88C434-42E8-D220-9184-559195BB193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46DA6E-E9F7-207E-5FB6-904B3D5F61EB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F3C8F1-1DB4-9FCF-966E-C072D0AEB63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D0EBF-3A2F-DC34-C66E-C551F4EE3C8E}"/>
              </a:ext>
            </a:extLst>
          </p:cNvPr>
          <p:cNvSpPr txBox="1"/>
          <p:nvPr/>
        </p:nvSpPr>
        <p:spPr>
          <a:xfrm>
            <a:off x="736600" y="304800"/>
            <a:ext cx="1383712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 err="1">
                <a:solidFill>
                  <a:schemeClr val="accent2"/>
                </a:solidFill>
                <a:latin typeface="Aptos Display"/>
              </a:rPr>
              <a:t>alignas</a:t>
            </a:r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1857E-19AA-8975-4F4A-F7BC9E69888E}"/>
              </a:ext>
            </a:extLst>
          </p:cNvPr>
          <p:cNvSpPr txBox="1"/>
          <p:nvPr/>
        </p:nvSpPr>
        <p:spPr>
          <a:xfrm>
            <a:off x="672946" y="1568332"/>
            <a:ext cx="108356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Consolas"/>
              </a:rPr>
              <a:t>std::</a:t>
            </a:r>
            <a:r>
              <a:rPr lang="en-US" sz="2800" dirty="0" err="1">
                <a:solidFill>
                  <a:schemeClr val="accent2"/>
                </a:solidFill>
                <a:latin typeface="Consolas"/>
              </a:rPr>
              <a:t>hardware_destructive_interference_size</a:t>
            </a:r>
            <a:r>
              <a:rPr lang="en-US" sz="2800" dirty="0">
                <a:solidFill>
                  <a:schemeClr val="accent2"/>
                </a:solidFill>
                <a:latin typeface="Consolas"/>
              </a:rPr>
              <a:t>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91B96E-DCBA-09A2-EC22-18FA05E47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81" y="2744289"/>
            <a:ext cx="10593519" cy="2140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1EED92-B291-CDCF-AEA3-0AC6A16CE4A3}"/>
              </a:ext>
            </a:extLst>
          </p:cNvPr>
          <p:cNvSpPr txBox="1"/>
          <p:nvPr/>
        </p:nvSpPr>
        <p:spPr>
          <a:xfrm>
            <a:off x="902563" y="5814873"/>
            <a:ext cx="30775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hlinkClick r:id="rId3"/>
              </a:rPr>
              <a:t>Demo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4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C2111-4708-BB8D-85AF-5A1174EB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73AED9-7300-A689-806C-1565C4B3F48C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0043D-25BA-63F9-B069-350F254B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Aligned shared state by ownership</a:t>
            </a:r>
            <a:endParaRPr lang="en-US" sz="2900" b="1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C74CD3-E307-A5B2-4F5E-7586AF70E6D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57358C-E2C1-5332-6DA2-4FADE3CDBD41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4976D8-F211-4B5F-979C-15C362236B6B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CEE82-32DB-E066-81D2-E5DFD9046D63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06052C-4F3E-785B-265D-0BAB946E1B7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AC90B-1BCA-8ADE-A1E7-985FE826A334}"/>
              </a:ext>
            </a:extLst>
          </p:cNvPr>
          <p:cNvSpPr txBox="1"/>
          <p:nvPr/>
        </p:nvSpPr>
        <p:spPr>
          <a:xfrm>
            <a:off x="736600" y="304800"/>
            <a:ext cx="2870851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Memory ordering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5512E-AAA6-4257-B12F-FBFFA3B32439}"/>
              </a:ext>
            </a:extLst>
          </p:cNvPr>
          <p:cNvSpPr txBox="1"/>
          <p:nvPr/>
        </p:nvSpPr>
        <p:spPr>
          <a:xfrm>
            <a:off x="735836" y="836768"/>
            <a:ext cx="10541000" cy="3556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>
                <a:solidFill>
                  <a:srgbClr val="2F3E56"/>
                </a:solidFill>
                <a:ea typeface="+mn-lt"/>
                <a:cs typeface="+mn-lt"/>
              </a:rPr>
              <a:t>Controls when operations around an atomic become ordered and visible across threads</a:t>
            </a:r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7698C27-F984-FA97-43E7-D658A3712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" y="4140200"/>
            <a:ext cx="5651500" cy="24892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9010606-5458-2E0B-3811-1B94E9BB3C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" y="1473200"/>
            <a:ext cx="5651500" cy="24892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8EADC39-7E5B-F085-0360-3BBA32B4FB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900" y="1473200"/>
            <a:ext cx="5651500" cy="2489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236464E-5EDD-FA37-4A04-46EE2283C5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4900" y="4140200"/>
            <a:ext cx="56515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0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5D5FF-5194-52A2-C583-06AF7758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E0179D-2B80-21B8-6150-998FE6319FD2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86FE4-0D85-FF6C-7D3C-C3F168E7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A679C-4F2F-0FB0-63D8-C6B890468C0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EE652C-7357-87F3-E3AD-695B79DA2CB7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C6413-EDC9-70C0-B999-9883BA97A38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2DFD7A-86A2-E48E-EB0D-1F00363ADEF0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ED6EFF-C183-AAD8-9C29-8451AFE00577}"/>
              </a:ext>
            </a:extLst>
          </p:cNvPr>
          <p:cNvSpPr txBox="1"/>
          <p:nvPr/>
        </p:nvSpPr>
        <p:spPr>
          <a:xfrm>
            <a:off x="1886401" y="1193086"/>
            <a:ext cx="8267969" cy="769441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pPr algn="ctr"/>
            <a:r>
              <a:rPr lang="en-US" sz="4400" b="1">
                <a:solidFill>
                  <a:srgbClr val="202C4A"/>
                </a:solidFill>
                <a:latin typeface="Aptos Display"/>
              </a:rPr>
              <a:t>Single Producer, Single Consumer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43BD646-4B4A-EC5C-458F-2DD789321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576" y="1960278"/>
            <a:ext cx="8056306" cy="382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C9929-BE02-29F1-2014-78ADA935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8A767E-448D-529E-1157-81B009FCBF1E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9734C-E9D3-4B4C-E125-C3B15FA5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26F48-35EF-2875-069D-27333291919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F1625-0637-CA35-0FDA-08517888B6CA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F895A-FF64-7896-95F2-B973A992281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824E4B-B160-30DA-293E-8DA436F3B32D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C907D4-31EB-269A-4818-46F4819B4894}"/>
              </a:ext>
            </a:extLst>
          </p:cNvPr>
          <p:cNvSpPr txBox="1"/>
          <p:nvPr/>
        </p:nvSpPr>
        <p:spPr>
          <a:xfrm>
            <a:off x="438676" y="327718"/>
            <a:ext cx="8267969" cy="769441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4400" b="1">
                <a:solidFill>
                  <a:srgbClr val="202C4A"/>
                </a:solidFill>
                <a:latin typeface="Aptos Display"/>
              </a:rPr>
              <a:t>Single Producer, Single Consumer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6DF6A-B73A-5339-3196-131666666EEC}"/>
              </a:ext>
            </a:extLst>
          </p:cNvPr>
          <p:cNvSpPr txBox="1"/>
          <p:nvPr/>
        </p:nvSpPr>
        <p:spPr>
          <a:xfrm>
            <a:off x="609776" y="1412487"/>
            <a:ext cx="1072995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Lock free</a:t>
            </a:r>
            <a:r>
              <a:rPr lang="en-US" sz="2800" dirty="0"/>
              <a:t> </a:t>
            </a:r>
            <a:endParaRPr lang="en-US"/>
          </a:p>
          <a:p>
            <a:r>
              <a:rPr lang="en-US" sz="2800" b="1" dirty="0"/>
              <a:t>Wait free</a:t>
            </a:r>
            <a:endParaRPr lang="en-US" sz="2800" dirty="0"/>
          </a:p>
          <a:p>
            <a:r>
              <a:rPr lang="en-US" sz="2800" b="1" dirty="0"/>
              <a:t>Global FIFO</a:t>
            </a:r>
          </a:p>
          <a:p>
            <a:r>
              <a:rPr lang="en-US" sz="2800" b="1" dirty="0"/>
              <a:t>Bounded memory</a:t>
            </a:r>
          </a:p>
        </p:txBody>
      </p:sp>
    </p:spTree>
    <p:extLst>
      <p:ext uri="{BB962C8B-B14F-4D97-AF65-F5344CB8AC3E}">
        <p14:creationId xmlns:p14="http://schemas.microsoft.com/office/powerpoint/2010/main" val="2327162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C202CA8-32D9-4336-9BC7-BE5E571F357B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2681D0-CF37-4CEE-8772-00F93E5FD9B5}"/>
              </a:ext>
            </a:extLst>
          </p:cNvPr>
          <p:cNvSpPr/>
          <p:nvPr/>
        </p:nvSpPr>
        <p:spPr>
          <a:xfrm>
            <a:off x="1191335" y="223916"/>
            <a:ext cx="9038453" cy="6411649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71D36-F364-ED6B-B9D3-8CF585C2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700" b="1">
                <a:solidFill>
                  <a:srgbClr val="202C4A"/>
                </a:solidFill>
                <a:latin typeface="Aptos Display"/>
              </a:rPr>
              <a:t>Single Producer, Single Consumer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4E1D51-11BC-BDFE-F279-C1217BB4D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05" y="1463748"/>
            <a:ext cx="6705207" cy="1563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902E6C-C59D-22C2-4D0A-E36704A4E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429" y="3129701"/>
            <a:ext cx="6705961" cy="1589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14F8C6-1564-9478-E8B3-E0EAE1D80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661" y="4957481"/>
            <a:ext cx="7202539" cy="167793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CA9983F-7AB1-4234-9DE5-12169C146673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D10B6F-B882-49B1-BF55-CCCC15D50D91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CDC7AB-BBC0-43BE-8220-5FCFDBDC375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040237-2B40-4F1C-853F-3856919C6F64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B02852-870D-40E6-A1DB-9F2284F0B00D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5C1BA5-39F7-4CCE-A0D6-589C5AABD4F6}"/>
              </a:ext>
            </a:extLst>
          </p:cNvPr>
          <p:cNvSpPr txBox="1"/>
          <p:nvPr/>
        </p:nvSpPr>
        <p:spPr>
          <a:xfrm>
            <a:off x="673577" y="224589"/>
            <a:ext cx="2966902" cy="507831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700" b="1" dirty="0">
                <a:solidFill>
                  <a:srgbClr val="202C4A"/>
                </a:solidFill>
                <a:latin typeface="Aptos Display"/>
              </a:rPr>
              <a:t>Circular </a:t>
            </a:r>
            <a:r>
              <a:rPr lang="en-US" sz="2700" b="1" dirty="0" err="1">
                <a:solidFill>
                  <a:srgbClr val="202C4A"/>
                </a:solidFill>
                <a:latin typeface="Aptos Display"/>
              </a:rPr>
              <a:t>Ringbuffer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515D6-F2FF-93FC-C9A2-AF2789E597C8}"/>
              </a:ext>
            </a:extLst>
          </p:cNvPr>
          <p:cNvSpPr txBox="1"/>
          <p:nvPr/>
        </p:nvSpPr>
        <p:spPr>
          <a:xfrm>
            <a:off x="674802" y="750588"/>
            <a:ext cx="963960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63449"/>
                </a:solidFill>
                <a:latin typeface="Aptos"/>
              </a:rPr>
              <a:t>Writer and reader index are monotonically increasin</a:t>
            </a:r>
            <a:r>
              <a:rPr lang="en-US">
                <a:solidFill>
                  <a:srgbClr val="263449"/>
                </a:solidFill>
                <a:latin typeface="Aptos"/>
              </a:rPr>
              <a:t>g, index into array using modulo</a:t>
            </a:r>
            <a:endParaRPr lang="en-US" dirty="0">
              <a:solidFill>
                <a:srgbClr val="26344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3222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AC2EA44-9E09-4DA0-B71B-2280542DA345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2E6932-1D85-404A-9891-6B2D42C49B4F}"/>
              </a:ext>
            </a:extLst>
          </p:cNvPr>
          <p:cNvSpPr/>
          <p:nvPr/>
        </p:nvSpPr>
        <p:spPr>
          <a:xfrm>
            <a:off x="674564" y="1117845"/>
            <a:ext cx="9610175" cy="5350042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724F6-3BB0-C2A1-7376-2E62F13C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Boundary 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2ADCD-6B10-3997-87A1-291A449CFDC8}"/>
              </a:ext>
            </a:extLst>
          </p:cNvPr>
          <p:cNvSpPr txBox="1"/>
          <p:nvPr/>
        </p:nvSpPr>
        <p:spPr>
          <a:xfrm>
            <a:off x="840602" y="1384349"/>
            <a:ext cx="855250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263449"/>
                </a:solidFill>
                <a:latin typeface="Aptos"/>
              </a:rPr>
              <a:t>Writer checks if the queue if full: </a:t>
            </a:r>
          </a:p>
          <a:p>
            <a:r>
              <a:rPr lang="en-US" sz="2000" dirty="0">
                <a:solidFill>
                  <a:srgbClr val="263449"/>
                </a:solidFill>
                <a:latin typeface="Aptos"/>
              </a:rPr>
              <a:t>writer == reader + size</a:t>
            </a:r>
          </a:p>
        </p:txBody>
      </p:sp>
      <p:pic>
        <p:nvPicPr>
          <p:cNvPr id="7" name="Picture 6" descr="A black and white rectangular object&#10;&#10;AI-generated content may be incorrect.">
            <a:extLst>
              <a:ext uri="{FF2B5EF4-FFF2-40B4-BE49-F238E27FC236}">
                <a16:creationId xmlns:a16="http://schemas.microsoft.com/office/drawing/2014/main" id="{B61DC4B9-51C1-8F03-003C-86688D34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02" y="2222171"/>
            <a:ext cx="9104198" cy="1686149"/>
          </a:xfrm>
          <a:prstGeom prst="rect">
            <a:avLst/>
          </a:prstGeom>
        </p:spPr>
      </p:pic>
      <p:pic>
        <p:nvPicPr>
          <p:cNvPr id="9" name="Picture 8" descr="A black line drawing of a tennis racket&#10;&#10;AI-generated content may be incorrect.">
            <a:extLst>
              <a:ext uri="{FF2B5EF4-FFF2-40B4-BE49-F238E27FC236}">
                <a16:creationId xmlns:a16="http://schemas.microsoft.com/office/drawing/2014/main" id="{8112A596-F2F7-1704-C363-273167C5B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20" y="4386568"/>
            <a:ext cx="9248084" cy="20787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4E8E2D-72ED-F517-825F-F4250F8D40A1}"/>
              </a:ext>
            </a:extLst>
          </p:cNvPr>
          <p:cNvSpPr txBox="1"/>
          <p:nvPr/>
        </p:nvSpPr>
        <p:spPr>
          <a:xfrm>
            <a:off x="840601" y="3908200"/>
            <a:ext cx="674504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rgbClr val="263449"/>
                </a:solidFill>
                <a:latin typeface="Aptos"/>
              </a:rPr>
              <a:t>Reader checks if queue is empty: </a:t>
            </a:r>
            <a:endParaRPr lang="en-US" dirty="0"/>
          </a:p>
          <a:p>
            <a:r>
              <a:rPr lang="en-US" sz="2000" dirty="0">
                <a:solidFill>
                  <a:srgbClr val="263449"/>
                </a:solidFill>
                <a:latin typeface="Aptos"/>
              </a:rPr>
              <a:t>reader == writer</a:t>
            </a:r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B9D2F2-2AE4-4996-8B29-4C1EDDF543E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ABA252-C583-4600-A0BD-718A986BE581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61D35-7390-45BD-B9A1-A1FC34808A9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3756B4-7A49-4B47-9B66-361B1CAD9E45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BF93A7-3775-4CB9-9B66-DF92022DCF6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87EA23-6490-4A8C-8E2F-5C752032E99A}"/>
              </a:ext>
            </a:extLst>
          </p:cNvPr>
          <p:cNvSpPr txBox="1"/>
          <p:nvPr/>
        </p:nvSpPr>
        <p:spPr>
          <a:xfrm>
            <a:off x="673577" y="394793"/>
            <a:ext cx="10795000" cy="812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2900" b="1">
                <a:solidFill>
                  <a:srgbClr val="202C4A"/>
                </a:solidFill>
                <a:latin typeface="Aptos Display"/>
              </a:rPr>
              <a:t>Boundary conditions</a:t>
            </a:r>
          </a:p>
        </p:txBody>
      </p:sp>
    </p:spTree>
    <p:extLst>
      <p:ext uri="{BB962C8B-B14F-4D97-AF65-F5344CB8AC3E}">
        <p14:creationId xmlns:p14="http://schemas.microsoft.com/office/powerpoint/2010/main" val="418446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3F0DF7-8D51-C4B0-21CB-3D8E91D1C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1275777"/>
            <a:ext cx="12058650" cy="53721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DF67C1A-A3D9-4E73-91F8-7885734AEB4A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DC00F-1A70-9DC8-BD05-C0C08D64E735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023E83-A2A9-4218-A812-A039D5F2E2D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2587F8-9C66-4D42-AF29-3FB0E8CE2969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E4E31-8AD7-447D-8707-FF3CA973BC5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7F2171-BEC6-47F9-B6CF-EF27E02B6FA2}"/>
              </a:ext>
            </a:extLst>
          </p:cNvPr>
          <p:cNvSpPr/>
          <p:nvPr/>
        </p:nvSpPr>
        <p:spPr>
          <a:xfrm>
            <a:off x="-89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FF94FE-B141-4918-BC3B-10D352DC21E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BB776-DB16-4601-B6E6-610252A3B449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63A1F-DFA8-B247-5664-8E8E5DEE86FD}"/>
              </a:ext>
            </a:extLst>
          </p:cNvPr>
          <p:cNvSpPr txBox="1"/>
          <p:nvPr/>
        </p:nvSpPr>
        <p:spPr>
          <a:xfrm>
            <a:off x="6987563" y="5324435"/>
            <a:ext cx="34032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Cached peer cursor</a:t>
            </a:r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6418EB-83C9-916B-CD89-4A72F5D46D91}"/>
              </a:ext>
            </a:extLst>
          </p:cNvPr>
          <p:cNvCxnSpPr/>
          <p:nvPr/>
        </p:nvCxnSpPr>
        <p:spPr>
          <a:xfrm flipH="1">
            <a:off x="5322315" y="5537323"/>
            <a:ext cx="1518989" cy="453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F29987B-A6A8-04BD-0EED-359808611046}"/>
              </a:ext>
            </a:extLst>
          </p:cNvPr>
          <p:cNvCxnSpPr/>
          <p:nvPr/>
        </p:nvCxnSpPr>
        <p:spPr>
          <a:xfrm flipH="1" flipV="1">
            <a:off x="5346630" y="4351759"/>
            <a:ext cx="1594872" cy="6337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CF34120-3C91-5B84-0F15-EEA0F6B935C5}"/>
              </a:ext>
            </a:extLst>
          </p:cNvPr>
          <p:cNvSpPr txBox="1"/>
          <p:nvPr/>
        </p:nvSpPr>
        <p:spPr>
          <a:xfrm>
            <a:off x="6184777" y="1716349"/>
            <a:ext cx="3787805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Constrain size to be power of 2 for faster indexing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85D440-6F77-A5D8-5789-CD5FAEAE603D}"/>
              </a:ext>
            </a:extLst>
          </p:cNvPr>
          <p:cNvCxnSpPr>
            <a:cxnSpLocks/>
          </p:cNvCxnSpPr>
          <p:nvPr/>
        </p:nvCxnSpPr>
        <p:spPr>
          <a:xfrm flipH="1">
            <a:off x="8697950" y="3579918"/>
            <a:ext cx="766290" cy="150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A4E62A-3DAB-39A4-56F2-74D6E5ABC0B2}"/>
              </a:ext>
            </a:extLst>
          </p:cNvPr>
          <p:cNvSpPr txBox="1"/>
          <p:nvPr/>
        </p:nvSpPr>
        <p:spPr>
          <a:xfrm>
            <a:off x="9469514" y="335871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Cursor for the producer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3A2334-35E7-419A-60E3-9C3F318ACBC0}"/>
              </a:ext>
            </a:extLst>
          </p:cNvPr>
          <p:cNvSpPr txBox="1"/>
          <p:nvPr/>
        </p:nvSpPr>
        <p:spPr>
          <a:xfrm>
            <a:off x="9661864" y="465337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Cursor for the consumer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696AE7-3816-8DFA-198C-409A257B3056}"/>
              </a:ext>
            </a:extLst>
          </p:cNvPr>
          <p:cNvCxnSpPr>
            <a:cxnSpLocks/>
          </p:cNvCxnSpPr>
          <p:nvPr/>
        </p:nvCxnSpPr>
        <p:spPr>
          <a:xfrm flipH="1">
            <a:off x="8890299" y="4837588"/>
            <a:ext cx="766290" cy="1504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72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5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375420-354E-9C39-C8F0-F870BB81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B8F3EA-E268-1443-FE3A-79CD1F704E58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7F56B-23D1-A6A0-9699-DEA42786A56F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3C758E-7C23-E768-7C4B-C167FE23C4E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C39FEA-3902-0084-D77D-E6FD8814E28F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7C024D-55B9-4868-74D7-7FDD193600B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2F712D-DC42-3CC9-2780-00077FD5E994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6FD145-1622-9BCC-E150-3DDE75E28D1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2026A-AC84-E09E-900E-1A643B03C773}"/>
              </a:ext>
            </a:extLst>
          </p:cNvPr>
          <p:cNvSpPr txBox="1"/>
          <p:nvPr/>
        </p:nvSpPr>
        <p:spPr>
          <a:xfrm>
            <a:off x="736600" y="304800"/>
            <a:ext cx="3052823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 Push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3DF4A-E162-466C-B17B-D7AFB2819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97" y="947025"/>
            <a:ext cx="9193878" cy="54058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CFD742-197F-0F62-F8AE-A0EB88C7C944}"/>
              </a:ext>
            </a:extLst>
          </p:cNvPr>
          <p:cNvSpPr txBox="1"/>
          <p:nvPr/>
        </p:nvSpPr>
        <p:spPr>
          <a:xfrm>
            <a:off x="9339339" y="3426680"/>
            <a:ext cx="2413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Reload read cursor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00BF0-750C-EFA7-B1E0-305CFC26D55A}"/>
              </a:ext>
            </a:extLst>
          </p:cNvPr>
          <p:cNvSpPr txBox="1"/>
          <p:nvPr/>
        </p:nvSpPr>
        <p:spPr>
          <a:xfrm>
            <a:off x="9010834" y="129466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 write cursor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186BF-233F-81EA-5A5A-C710C8E1B437}"/>
              </a:ext>
            </a:extLst>
          </p:cNvPr>
          <p:cNvSpPr txBox="1"/>
          <p:nvPr/>
        </p:nvSpPr>
        <p:spPr>
          <a:xfrm>
            <a:off x="5888854" y="221941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if queue full with cached peer cursor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B7716-A405-9325-0673-36BB4B078587}"/>
              </a:ext>
            </a:extLst>
          </p:cNvPr>
          <p:cNvSpPr txBox="1"/>
          <p:nvPr/>
        </p:nvSpPr>
        <p:spPr>
          <a:xfrm>
            <a:off x="8936854" y="5356194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Progress cursor with release</a:t>
            </a:r>
          </a:p>
        </p:txBody>
      </p:sp>
    </p:spTree>
    <p:extLst>
      <p:ext uri="{BB962C8B-B14F-4D97-AF65-F5344CB8AC3E}">
        <p14:creationId xmlns:p14="http://schemas.microsoft.com/office/powerpoint/2010/main" val="190535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73294-23AB-379B-AFBD-F11D6C99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B37C48-F951-15CC-EF45-7DC5E378EE8C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04182F-8CE2-8D3D-B7D4-C132403C2BE1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5E025A-BD2F-F50C-2518-1DA4AA9F33D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76249-D636-6189-5C86-6F26748546F9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175507-BD47-C60B-AAAD-AA6F77992CE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F8714-295E-EA98-5897-29B1EB379CBB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8C6CA-E554-324C-B407-FDEAFDD4C71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B18D6-ECF5-F076-BDEB-C2A251C34F26}"/>
              </a:ext>
            </a:extLst>
          </p:cNvPr>
          <p:cNvSpPr txBox="1"/>
          <p:nvPr/>
        </p:nvSpPr>
        <p:spPr>
          <a:xfrm>
            <a:off x="736600" y="304800"/>
            <a:ext cx="2870338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 Pop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63DB05-6B98-B44B-36B0-8664C1FB6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633" y="969940"/>
            <a:ext cx="8461317" cy="5060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6051E8-DB5C-C2F1-498A-74226346AB4A}"/>
              </a:ext>
            </a:extLst>
          </p:cNvPr>
          <p:cNvSpPr txBox="1"/>
          <p:nvPr/>
        </p:nvSpPr>
        <p:spPr>
          <a:xfrm>
            <a:off x="288000" y="6036000"/>
            <a:ext cx="5591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  <a:hlinkClick r:id="rId3"/>
              </a:rPr>
              <a:t>Godbolt benchmark</a:t>
            </a:r>
            <a:endParaRPr lang="en-US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3162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247EBFB-325B-46F7-8F98-61C5BA45C09B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B7B9E-0D90-AEB2-CF92-E40F6608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Aligned shared state by ownership</a:t>
            </a:r>
            <a:endParaRPr lang="en-US" sz="2900" b="1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3462DD-5747-4335-9539-19B87CF34E7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DC67CF-B01A-45E1-A736-E9E80D15F511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C52349-B959-42FA-838A-6D23DCFCF6C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A5CED6-4137-4658-B0DC-1F3BB88456D9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7853AA-F672-483E-8524-915E1150DAD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B5B74-1593-4933-B811-2710A0F2C8D1}"/>
              </a:ext>
            </a:extLst>
          </p:cNvPr>
          <p:cNvSpPr txBox="1"/>
          <p:nvPr/>
        </p:nvSpPr>
        <p:spPr>
          <a:xfrm>
            <a:off x="736600" y="304800"/>
            <a:ext cx="5475089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Key </a:t>
            </a:r>
            <a:r>
              <a:rPr lang="en-US" sz="2900" b="1">
                <a:solidFill>
                  <a:srgbClr val="202C4A"/>
                </a:solidFill>
                <a:latin typeface="Aptos Display"/>
              </a:rPr>
              <a:t>takeaway: Memory alignment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10814B-BBDD-3146-A7D7-896CE2D91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586" y="1408249"/>
            <a:ext cx="11640633" cy="491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74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CED23-C9E2-7D1A-478A-7C176D71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07ED4F-57C0-D41F-4940-C9C79CB232C8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34CAB-0D42-7453-BF9E-9128DA0B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36B263-DF4B-4879-06D3-EE564E9BC2B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92A34-0628-FF70-3343-368D7B6C6EE2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09CA1E-F22E-5FE3-44FF-C248C5798E0B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66841B-DBAC-0534-DB75-B2E5A3830936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B8AF8-B45A-92A4-0294-7B99F23D65E7}"/>
              </a:ext>
            </a:extLst>
          </p:cNvPr>
          <p:cNvSpPr txBox="1"/>
          <p:nvPr/>
        </p:nvSpPr>
        <p:spPr>
          <a:xfrm>
            <a:off x="610556" y="327718"/>
            <a:ext cx="8776120" cy="1754326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4400" b="1" dirty="0">
                <a:solidFill>
                  <a:srgbClr val="202C4A"/>
                </a:solidFill>
                <a:latin typeface="Aptos Display"/>
              </a:rPr>
              <a:t>Single Producer, Multiple Consumer</a:t>
            </a:r>
          </a:p>
          <a:p>
            <a:r>
              <a:rPr lang="en-US" sz="2000" b="1" dirty="0">
                <a:solidFill>
                  <a:srgbClr val="000000"/>
                </a:solidFill>
                <a:latin typeface="Aptos"/>
              </a:rPr>
              <a:t>Market data gateways, Video encoders, Web servers</a:t>
            </a:r>
            <a:endParaRPr lang="en-US" sz="2000">
              <a:solidFill>
                <a:srgbClr val="000000"/>
              </a:solidFill>
              <a:latin typeface="Aptos"/>
            </a:endParaRPr>
          </a:p>
          <a:p>
            <a:endParaRPr lang="en-US" sz="44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1FA0D-1EC2-9F23-AEF3-9A6D4DFE15A7}"/>
              </a:ext>
            </a:extLst>
          </p:cNvPr>
          <p:cNvSpPr txBox="1"/>
          <p:nvPr/>
        </p:nvSpPr>
        <p:spPr>
          <a:xfrm>
            <a:off x="734184" y="1847916"/>
            <a:ext cx="1072995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Single producer</a:t>
            </a:r>
            <a:endParaRPr lang="en-US" sz="2800" dirty="0"/>
          </a:p>
          <a:p>
            <a:r>
              <a:rPr lang="en-US" sz="2800" b="1" dirty="0"/>
              <a:t>Multiple consumer</a:t>
            </a:r>
            <a:r>
              <a:rPr lang="en-US" sz="2800" dirty="0"/>
              <a:t> </a:t>
            </a:r>
          </a:p>
          <a:p>
            <a:r>
              <a:rPr lang="en-US" sz="2800" b="1" dirty="0"/>
              <a:t>Circular FIFO</a:t>
            </a:r>
            <a:endParaRPr lang="en-US" dirty="0"/>
          </a:p>
          <a:p>
            <a:r>
              <a:rPr lang="en-US" sz="2800" b="1" dirty="0">
                <a:ea typeface="+mn-lt"/>
                <a:cs typeface="+mn-lt"/>
              </a:rPr>
              <a:t>Work sharing queue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F8FDDE-2D81-C242-CB97-95C45CFCE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4768" y="3430719"/>
            <a:ext cx="60960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25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B4B3A-50EB-F93D-24FD-B3540744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4347D3C-A7A5-53E0-A8EB-DB13CA6F37BA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CC5710-E243-3CCA-47EB-A04F922C145C}"/>
              </a:ext>
            </a:extLst>
          </p:cNvPr>
          <p:cNvSpPr/>
          <p:nvPr/>
        </p:nvSpPr>
        <p:spPr>
          <a:xfrm>
            <a:off x="343758" y="1303613"/>
            <a:ext cx="11487295" cy="425402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F6CCC-3F12-F97A-A76A-0CD53DF1C035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EE4242-77D0-86E6-0168-B277CAC1BC4D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5E69D8-4D03-2F12-EB0B-24D790D4F860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21A075-6DF4-8889-710C-66261FD7D21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429DC2-5104-10F1-5132-75A0C3EFA771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7024CD-9BD7-18A9-D4E8-4C1EDD2A185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ABE833-239A-DEBD-0EAA-9B2F7C9367E8}"/>
              </a:ext>
            </a:extLst>
          </p:cNvPr>
          <p:cNvSpPr txBox="1"/>
          <p:nvPr/>
        </p:nvSpPr>
        <p:spPr>
          <a:xfrm>
            <a:off x="736600" y="304800"/>
            <a:ext cx="3086486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What do we need?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20FE8D-7D39-A94F-D135-89D11DE94399}"/>
              </a:ext>
            </a:extLst>
          </p:cNvPr>
          <p:cNvSpPr txBox="1"/>
          <p:nvPr/>
        </p:nvSpPr>
        <p:spPr>
          <a:xfrm>
            <a:off x="392097" y="1301723"/>
            <a:ext cx="11073412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Performance 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dirty="0">
                <a:ea typeface="+mn-lt"/>
                <a:cs typeface="+mn-lt"/>
              </a:rPr>
              <a:t>Fast producer path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dirty="0">
                <a:ea typeface="+mn-lt"/>
                <a:cs typeface="+mn-lt"/>
              </a:rPr>
              <a:t>Low per-item overhead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Scaling 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Minimal coordination among threads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dirty="0">
                <a:ea typeface="+mn-lt"/>
                <a:cs typeface="+mn-lt"/>
              </a:rPr>
              <a:t>Single-consumer ownership per item</a:t>
            </a:r>
            <a:endParaRPr lang="en-US" sz="2800" dirty="0"/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Even distribution of work among consumers</a:t>
            </a:r>
          </a:p>
        </p:txBody>
      </p:sp>
    </p:spTree>
    <p:extLst>
      <p:ext uri="{BB962C8B-B14F-4D97-AF65-F5344CB8AC3E}">
        <p14:creationId xmlns:p14="http://schemas.microsoft.com/office/powerpoint/2010/main" val="3838604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9DD99-2A2B-F3A6-71F9-876D1631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6E64A4B-B9C3-F093-A3D3-EB98CFF0C04E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05966-7565-FD38-FE5B-14224F8BAD9E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24BB1F-3A94-55B6-C94E-2583BB3A65ED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CDDAE-7046-A1BC-0489-5AD7F589C4E5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CA97AF-CE7F-87C9-F39E-85694103F01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27708C-CC00-152E-E23A-CC8214F8A983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383B7-35E6-FC08-0FE2-E68EE02F69ED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499DA1-CD3E-7802-C3C3-5F92087D5887}"/>
              </a:ext>
            </a:extLst>
          </p:cNvPr>
          <p:cNvSpPr txBox="1"/>
          <p:nvPr/>
        </p:nvSpPr>
        <p:spPr>
          <a:xfrm>
            <a:off x="736600" y="441093"/>
            <a:ext cx="4755533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n-lt"/>
                <a:cs typeface="+mn-lt"/>
              </a:rPr>
              <a:t>How should our queue work?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39C76EE-43C6-2DFB-01C0-7EF3815C1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9728" y="1374819"/>
            <a:ext cx="6013938" cy="4114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3F6391-66F0-F275-7D7C-54E3D7E32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25" y="1374821"/>
            <a:ext cx="601393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7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6E506-FCA8-EB40-B138-C37322C0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1565511-F62B-FC1A-AD69-880AFF122A2D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72C799-D0C0-0BE6-E88E-E2165DE7884A}"/>
              </a:ext>
            </a:extLst>
          </p:cNvPr>
          <p:cNvSpPr/>
          <p:nvPr/>
        </p:nvSpPr>
        <p:spPr>
          <a:xfrm>
            <a:off x="360947" y="1483104"/>
            <a:ext cx="11460631" cy="5183849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E9D86-D79F-DC74-AB86-8F532B1FAFD0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7F342-08D6-8E75-C9F4-6FD5B5FED16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E86304-1918-0474-7261-14110543F5B2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EBAF01-A581-0388-29D4-E6CC41FA3803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ACEF6E-FEBE-25E0-7F5D-F33FCAFE80A2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E23C28-FB62-8295-B2C5-343CDEB08363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54D5B3-A4F6-6194-1EFD-B60D6850F572}"/>
              </a:ext>
            </a:extLst>
          </p:cNvPr>
          <p:cNvSpPr txBox="1"/>
          <p:nvPr/>
        </p:nvSpPr>
        <p:spPr>
          <a:xfrm>
            <a:off x="736600" y="304800"/>
            <a:ext cx="6326860" cy="846386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How to check for boundary conditions?</a:t>
            </a:r>
          </a:p>
          <a:p>
            <a:r>
              <a:rPr lang="en-US" sz="2000" dirty="0">
                <a:solidFill>
                  <a:srgbClr val="202C4A"/>
                </a:solidFill>
                <a:latin typeface="Aptos"/>
              </a:rPr>
              <a:t>SPMC</a:t>
            </a:r>
            <a:r>
              <a:rPr lang="en-US" sz="2000" dirty="0">
                <a:solidFill>
                  <a:srgbClr val="202C4A"/>
                </a:solidFill>
                <a:ea typeface="+mn-lt"/>
                <a:cs typeface="+mn-lt"/>
              </a:rPr>
              <a:t> must separate slot reservation from slot reuse</a:t>
            </a: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605A78-845D-0ECF-F5D8-303EFF59E60D}"/>
              </a:ext>
            </a:extLst>
          </p:cNvPr>
          <p:cNvSpPr txBox="1"/>
          <p:nvPr/>
        </p:nvSpPr>
        <p:spPr>
          <a:xfrm>
            <a:off x="429820" y="1483825"/>
            <a:ext cx="1138799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Cursor maintains FIFO ordering and indicates ownership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Per slot sequence indicates slot state; Similar to Seqlock</a:t>
            </a:r>
          </a:p>
          <a:p>
            <a:pPr marL="285750" indent="-28575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54BFA-4361-2D73-1238-1190475F7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82" y="2669591"/>
            <a:ext cx="9688282" cy="36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66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D2135-16F5-15D5-354E-338FB8229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1D9650B-48AB-0EB0-DCC4-3F7C42AE5C42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274619-826C-C0BB-B097-BC3B02140979}"/>
              </a:ext>
            </a:extLst>
          </p:cNvPr>
          <p:cNvSpPr/>
          <p:nvPr/>
        </p:nvSpPr>
        <p:spPr>
          <a:xfrm>
            <a:off x="0" y="1320800"/>
            <a:ext cx="12192000" cy="419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963F77-E20D-904C-AFA2-2A8B9B39B63A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B96A1A-0E7D-7CAF-616A-3862784E93A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CA8C82-CB4F-010E-B121-F4F04B397C75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6A5461-CEE2-B86F-A4CA-22412859001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2AD9B1-BC4A-A240-3224-6D1AD5AA12DF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3AD70-61F1-9030-977F-C1980C86FA4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329042-A394-2EC2-D40E-1895E07758D4}"/>
              </a:ext>
            </a:extLst>
          </p:cNvPr>
          <p:cNvSpPr txBox="1"/>
          <p:nvPr/>
        </p:nvSpPr>
        <p:spPr>
          <a:xfrm>
            <a:off x="736600" y="304800"/>
            <a:ext cx="4014369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Per slot state operations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61418-DAA4-CCCE-77C0-C654AF8A9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1" y="2035949"/>
            <a:ext cx="5864923" cy="2755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17C20-DCB0-F519-327F-339CDF8EE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78" y="1914160"/>
            <a:ext cx="5778543" cy="27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7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A2357-35AB-B98C-F7B7-C6255F71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B85A4C3-6F54-AA47-48C9-DB44757E31CC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7EFFFF-1604-C295-66BB-B672D0090829}"/>
              </a:ext>
            </a:extLst>
          </p:cNvPr>
          <p:cNvSpPr/>
          <p:nvPr/>
        </p:nvSpPr>
        <p:spPr>
          <a:xfrm>
            <a:off x="433658" y="713679"/>
            <a:ext cx="11095465" cy="5355682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F70354-9D58-A681-84EE-B06531629532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5D0B37-4D82-0B92-9AB6-D38EC9D189C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6BD89A-74B0-AC0F-47FE-61488A86447A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45DEB-3820-F12E-D265-F8335FDDCA7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FF4A87-81CD-5115-3585-157744CF9FBE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24440E-6E5B-0BCA-6683-555682DB6E1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23B12E-8F3F-4F4E-ADD1-6ECCAD2D6A51}"/>
              </a:ext>
            </a:extLst>
          </p:cNvPr>
          <p:cNvSpPr txBox="1"/>
          <p:nvPr/>
        </p:nvSpPr>
        <p:spPr>
          <a:xfrm>
            <a:off x="736600" y="304800"/>
            <a:ext cx="2274982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SPMC Queue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BA24FB-712D-7732-CE71-DC07F5977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49" y="1268169"/>
            <a:ext cx="9515708" cy="4780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148E49-367C-B671-FF64-561FE32B518A}"/>
              </a:ext>
            </a:extLst>
          </p:cNvPr>
          <p:cNvSpPr txBox="1"/>
          <p:nvPr/>
        </p:nvSpPr>
        <p:spPr>
          <a:xfrm>
            <a:off x="8787058" y="4013181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Write cursor not accessed by readers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5D30B-CEEC-FFE4-AE43-3A3BD96374D9}"/>
              </a:ext>
            </a:extLst>
          </p:cNvPr>
          <p:cNvSpPr txBox="1"/>
          <p:nvPr/>
        </p:nvSpPr>
        <p:spPr>
          <a:xfrm>
            <a:off x="5344679" y="3337570"/>
            <a:ext cx="260311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concurrent access by </a:t>
            </a:r>
            <a:r>
              <a:rPr lang="en-US" dirty="0">
                <a:solidFill>
                  <a:srgbClr val="FF0000"/>
                </a:solidFill>
              </a:rPr>
              <a:t>reader and writer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AFC87C-E395-27F0-E12B-4EB90DF2D7A0}"/>
              </a:ext>
            </a:extLst>
          </p:cNvPr>
          <p:cNvCxnSpPr/>
          <p:nvPr/>
        </p:nvCxnSpPr>
        <p:spPr>
          <a:xfrm flipH="1">
            <a:off x="8148734" y="2783632"/>
            <a:ext cx="1104122" cy="2643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70D581-4D47-2E2B-67C6-A652D401B094}"/>
              </a:ext>
            </a:extLst>
          </p:cNvPr>
          <p:cNvSpPr txBox="1"/>
          <p:nvPr/>
        </p:nvSpPr>
        <p:spPr>
          <a:xfrm>
            <a:off x="9252857" y="2441510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Puts every node on a separate cache line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DAE904-3C3F-3643-559C-2D85B3076D7E}"/>
              </a:ext>
            </a:extLst>
          </p:cNvPr>
          <p:cNvCxnSpPr>
            <a:cxnSpLocks/>
          </p:cNvCxnSpPr>
          <p:nvPr/>
        </p:nvCxnSpPr>
        <p:spPr>
          <a:xfrm flipH="1">
            <a:off x="7674428" y="4369836"/>
            <a:ext cx="1104122" cy="2643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366CBE-1076-5776-C376-74744D304871}"/>
              </a:ext>
            </a:extLst>
          </p:cNvPr>
          <p:cNvCxnSpPr>
            <a:cxnSpLocks/>
          </p:cNvCxnSpPr>
          <p:nvPr/>
        </p:nvCxnSpPr>
        <p:spPr>
          <a:xfrm flipH="1">
            <a:off x="4229877" y="3670040"/>
            <a:ext cx="1181877" cy="1244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315162-BBED-39E3-8025-3D6B1E92CEB5}"/>
              </a:ext>
            </a:extLst>
          </p:cNvPr>
          <p:cNvSpPr txBox="1"/>
          <p:nvPr/>
        </p:nvSpPr>
        <p:spPr>
          <a:xfrm>
            <a:off x="9837420" y="5090159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Read cursor supports</a:t>
            </a:r>
          </a:p>
          <a:p>
            <a:r>
              <a:rPr lang="en-US" dirty="0">
                <a:solidFill>
                  <a:srgbClr val="FF0000"/>
                </a:solidFill>
              </a:rPr>
              <a:t>concurrent access</a:t>
            </a:r>
          </a:p>
        </p:txBody>
      </p:sp>
    </p:spTree>
    <p:extLst>
      <p:ext uri="{BB962C8B-B14F-4D97-AF65-F5344CB8AC3E}">
        <p14:creationId xmlns:p14="http://schemas.microsoft.com/office/powerpoint/2010/main" val="136750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8FAE9-584D-E9BF-09B7-799FAB3D6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AF9E79-CD82-05D3-4AB9-843C4BBE6932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D8206-61F3-E763-C2E5-E3288904ACC8}"/>
              </a:ext>
            </a:extLst>
          </p:cNvPr>
          <p:cNvSpPr/>
          <p:nvPr/>
        </p:nvSpPr>
        <p:spPr>
          <a:xfrm>
            <a:off x="7892" y="1130917"/>
            <a:ext cx="12179669" cy="476188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6BD43-2184-DEE6-F5CB-E0FD94D54C3B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BA0013-B2FD-FAD6-39D3-5F308BD33F5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EA4858-80F2-ED91-68AE-C6B2778CCC12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C3CAE9-2015-4418-BA4F-1A2437BAB835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4C84BB-E78E-8008-3425-02B4980FD61B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E742D9-F824-406C-D90A-8AEE3278018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4E559D-E2E8-922C-DA05-564C7408D7AB}"/>
              </a:ext>
            </a:extLst>
          </p:cNvPr>
          <p:cNvSpPr txBox="1"/>
          <p:nvPr/>
        </p:nvSpPr>
        <p:spPr>
          <a:xfrm>
            <a:off x="736600" y="304800"/>
            <a:ext cx="3792898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SPMC Queue Producer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E013E0-B1AE-491B-FE4D-1D45BF4CC132}"/>
              </a:ext>
            </a:extLst>
          </p:cNvPr>
          <p:cNvCxnSpPr/>
          <p:nvPr/>
        </p:nvCxnSpPr>
        <p:spPr>
          <a:xfrm flipH="1">
            <a:off x="7297853" y="1858536"/>
            <a:ext cx="1400097" cy="619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8FE21CF-7786-2971-F5B8-D407F85D9BBF}"/>
              </a:ext>
            </a:extLst>
          </p:cNvPr>
          <p:cNvCxnSpPr>
            <a:cxnSpLocks/>
          </p:cNvCxnSpPr>
          <p:nvPr/>
        </p:nvCxnSpPr>
        <p:spPr>
          <a:xfrm flipH="1">
            <a:off x="6805131" y="3709107"/>
            <a:ext cx="1400097" cy="619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rrow: Circular 23">
            <a:extLst>
              <a:ext uri="{FF2B5EF4-FFF2-40B4-BE49-F238E27FC236}">
                <a16:creationId xmlns:a16="http://schemas.microsoft.com/office/drawing/2014/main" id="{26DD7467-A369-8E6B-E5FE-259CEE942B29}"/>
              </a:ext>
            </a:extLst>
          </p:cNvPr>
          <p:cNvSpPr/>
          <p:nvPr/>
        </p:nvSpPr>
        <p:spPr>
          <a:xfrm rot="-5400000">
            <a:off x="1501315" y="2737823"/>
            <a:ext cx="2193073" cy="2304585"/>
          </a:xfrm>
          <a:prstGeom prst="circular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AE29F9-1FF9-9E9C-733D-0524626D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62" y="1271033"/>
            <a:ext cx="8797074" cy="4638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F4ADDA-11D8-A9F4-50CC-E04B59A5440A}"/>
              </a:ext>
            </a:extLst>
          </p:cNvPr>
          <p:cNvSpPr txBox="1"/>
          <p:nvPr/>
        </p:nvSpPr>
        <p:spPr>
          <a:xfrm>
            <a:off x="8343837" y="4180096"/>
            <a:ext cx="239131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Publish data ready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2EBFC3-AD14-B587-DA54-DAAF93691993}"/>
              </a:ext>
            </a:extLst>
          </p:cNvPr>
          <p:cNvSpPr txBox="1"/>
          <p:nvPr/>
        </p:nvSpPr>
        <p:spPr>
          <a:xfrm>
            <a:off x="4247850" y="3247035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if slot is empty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68F0D-4AA2-667F-505C-051D4B59AB09}"/>
              </a:ext>
            </a:extLst>
          </p:cNvPr>
          <p:cNvSpPr txBox="1"/>
          <p:nvPr/>
        </p:nvSpPr>
        <p:spPr>
          <a:xfrm>
            <a:off x="5212080" y="237744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Read slot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112874-1EBB-5F85-143E-2AAC4001EF6C}"/>
              </a:ext>
            </a:extLst>
          </p:cNvPr>
          <p:cNvSpPr txBox="1"/>
          <p:nvPr/>
        </p:nvSpPr>
        <p:spPr>
          <a:xfrm>
            <a:off x="8702040" y="307086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Read slot sequence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B976A5-903C-33C8-5D7B-36AACECAE06D}"/>
              </a:ext>
            </a:extLst>
          </p:cNvPr>
          <p:cNvSpPr txBox="1"/>
          <p:nvPr/>
        </p:nvSpPr>
        <p:spPr>
          <a:xfrm>
            <a:off x="4145280" y="454152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Progress cursor</a:t>
            </a:r>
          </a:p>
        </p:txBody>
      </p:sp>
    </p:spTree>
    <p:extLst>
      <p:ext uri="{BB962C8B-B14F-4D97-AF65-F5344CB8AC3E}">
        <p14:creationId xmlns:p14="http://schemas.microsoft.com/office/powerpoint/2010/main" val="155307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397C2-3FE2-7FE9-4E31-C4DEFD079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C5E4BF-893C-6F4D-8F14-ADEA9138CEB5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682A3-5EFC-7EFF-36F7-FD965F0040B2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8F2CCB-18C4-AAD7-1D68-519143EC4D7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49721-31D1-FF8A-1216-B3F9D55DEB94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7DC610-48E3-BEC6-5E61-101CB3D3B4F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67ED4D-1C33-F610-259D-D0C9B6EBF5E0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CAB5C-92C6-83A0-AC97-2434C1F1BD7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7E6517-C345-3771-777E-79D7311B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0815"/>
            <a:ext cx="12192000" cy="426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8E03B3-778E-D9C5-0343-CD0B8693C135}"/>
              </a:ext>
            </a:extLst>
          </p:cNvPr>
          <p:cNvSpPr txBox="1"/>
          <p:nvPr/>
        </p:nvSpPr>
        <p:spPr>
          <a:xfrm>
            <a:off x="736600" y="304800"/>
            <a:ext cx="5127942" cy="846386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Compare and Swap</a:t>
            </a:r>
          </a:p>
          <a:p>
            <a:r>
              <a:rPr lang="en-US" sz="2000" b="1" dirty="0">
                <a:solidFill>
                  <a:srgbClr val="202C4A"/>
                </a:solidFill>
                <a:latin typeface="Aptos Display"/>
              </a:rPr>
              <a:t>Allows concurrent state change without locks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185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0F90F-102D-F4A6-FC63-BBC496D2A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41FBB0-40CB-C408-B4F1-CCA2FD289007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DA015-B42A-1E3C-0691-D8371E72B062}"/>
              </a:ext>
            </a:extLst>
          </p:cNvPr>
          <p:cNvSpPr/>
          <p:nvPr/>
        </p:nvSpPr>
        <p:spPr>
          <a:xfrm>
            <a:off x="68433" y="1195659"/>
            <a:ext cx="12016001" cy="5446441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25630-CDB9-A790-2347-02BAB516686E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E7AF7-0802-4910-E707-5CA5BE7313F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C6A499-F8B2-AAD0-CD29-F424AB5851BA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371F1-73A3-C829-2033-774AAD9888F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FEBBC2-ABCA-ED79-C8F2-BE848F1B20F2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0E6C59-A0FC-3D0B-D18D-47A0E1AE5A1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F54392-DF67-151A-301D-2843947A32A9}"/>
              </a:ext>
            </a:extLst>
          </p:cNvPr>
          <p:cNvSpPr txBox="1"/>
          <p:nvPr/>
        </p:nvSpPr>
        <p:spPr>
          <a:xfrm>
            <a:off x="736600" y="304800"/>
            <a:ext cx="4004622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SPMC Queue Consumer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0ED7B-A929-069C-E7A0-8BF80F2F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92" y="1290001"/>
            <a:ext cx="7398667" cy="53649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8EA17B4-B64D-3F32-CC19-4A84EFF17F6C}"/>
              </a:ext>
            </a:extLst>
          </p:cNvPr>
          <p:cNvSpPr txBox="1"/>
          <p:nvPr/>
        </p:nvSpPr>
        <p:spPr>
          <a:xfrm>
            <a:off x="8268157" y="1717416"/>
            <a:ext cx="274319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Read cursor for FIFO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591593-FFF1-9C3B-E48B-7BDE144673ED}"/>
              </a:ext>
            </a:extLst>
          </p:cNvPr>
          <p:cNvSpPr txBox="1"/>
          <p:nvPr/>
        </p:nvSpPr>
        <p:spPr>
          <a:xfrm>
            <a:off x="7224301" y="3903443"/>
            <a:ext cx="46405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Progress cursor using CAS and claim ownership</a:t>
            </a:r>
          </a:p>
        </p:txBody>
      </p:sp>
      <p:sp>
        <p:nvSpPr>
          <p:cNvPr id="24" name="Arrow: Circular 23">
            <a:extLst>
              <a:ext uri="{FF2B5EF4-FFF2-40B4-BE49-F238E27FC236}">
                <a16:creationId xmlns:a16="http://schemas.microsoft.com/office/drawing/2014/main" id="{6D38B30C-EB7D-D148-6D62-63394F8BF551}"/>
              </a:ext>
            </a:extLst>
          </p:cNvPr>
          <p:cNvSpPr/>
          <p:nvPr/>
        </p:nvSpPr>
        <p:spPr>
          <a:xfrm rot="16200000">
            <a:off x="465788" y="2744269"/>
            <a:ext cx="3924569" cy="3213444"/>
          </a:xfrm>
          <a:prstGeom prst="circular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7DEF1B-09E4-6E25-D577-8C357758FD67}"/>
              </a:ext>
            </a:extLst>
          </p:cNvPr>
          <p:cNvSpPr txBox="1"/>
          <p:nvPr/>
        </p:nvSpPr>
        <p:spPr>
          <a:xfrm>
            <a:off x="69776" y="5907978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Retry if CAS fails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FC87D-22D3-9D27-7D59-E39A03D1A45F}"/>
              </a:ext>
            </a:extLst>
          </p:cNvPr>
          <p:cNvSpPr txBox="1"/>
          <p:nvPr/>
        </p:nvSpPr>
        <p:spPr>
          <a:xfrm>
            <a:off x="8785794" y="2917370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slot seq for data state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4F7CDD-77C4-9735-6C13-97C5FA0BE917}"/>
              </a:ext>
            </a:extLst>
          </p:cNvPr>
          <p:cNvSpPr txBox="1"/>
          <p:nvPr/>
        </p:nvSpPr>
        <p:spPr>
          <a:xfrm>
            <a:off x="9130529" y="5151541"/>
            <a:ext cx="31671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Publish empty slot state</a:t>
            </a:r>
          </a:p>
        </p:txBody>
      </p:sp>
    </p:spTree>
    <p:extLst>
      <p:ext uri="{BB962C8B-B14F-4D97-AF65-F5344CB8AC3E}">
        <p14:creationId xmlns:p14="http://schemas.microsoft.com/office/powerpoint/2010/main" val="215612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4" grpId="0" animBg="1"/>
      <p:bldP spid="25" grpId="0"/>
      <p:bldP spid="3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47667-0111-D1E4-82C1-2A95C21E9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23683D-64BD-6EE5-A015-7FC53D610CB0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C7514-5F6A-ACE7-7F2C-063693F92245}"/>
              </a:ext>
            </a:extLst>
          </p:cNvPr>
          <p:cNvSpPr/>
          <p:nvPr/>
        </p:nvSpPr>
        <p:spPr>
          <a:xfrm>
            <a:off x="68433" y="1195659"/>
            <a:ext cx="12016001" cy="5446441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67665-CAED-6EDA-A996-53D8FBE8AECB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4B081-716A-E3D5-4C41-6B2E3F12A4D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AB2DA-2191-C613-185C-9CD12387F08D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99BD8B-D2F9-521A-A75F-66CA551D7F4B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F3A127-3470-2137-D359-1D80EAD4A501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0A95C7-B13C-AE8A-420B-31872679588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6AB67E-7C40-A4E3-6B38-7BA851E853D6}"/>
              </a:ext>
            </a:extLst>
          </p:cNvPr>
          <p:cNvSpPr txBox="1"/>
          <p:nvPr/>
        </p:nvSpPr>
        <p:spPr>
          <a:xfrm>
            <a:off x="736600" y="304800"/>
            <a:ext cx="5593326" cy="815608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Key takeaway: Compare and Swap</a:t>
            </a:r>
            <a:endParaRPr lang="en-US" dirty="0">
              <a:solidFill>
                <a:srgbClr val="000000"/>
              </a:solidFill>
              <a:latin typeface="Aptos" panose="02110004020202020204"/>
            </a:endParaRPr>
          </a:p>
          <a:p>
            <a:r>
              <a:rPr lang="en-US" dirty="0">
                <a:ea typeface="+mn-lt"/>
                <a:cs typeface="+mn-lt"/>
              </a:rPr>
              <a:t>Conditional atomic state transition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5A1D5-63EB-D256-AE6B-BCC4D37C4E64}"/>
              </a:ext>
            </a:extLst>
          </p:cNvPr>
          <p:cNvSpPr txBox="1"/>
          <p:nvPr/>
        </p:nvSpPr>
        <p:spPr>
          <a:xfrm>
            <a:off x="317615" y="1559543"/>
            <a:ext cx="115202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CAS lets threads compete for a state transition without acquiring a lock</a:t>
            </a:r>
          </a:p>
          <a:p>
            <a:r>
              <a:rPr lang="en-US" sz="2800" dirty="0">
                <a:ea typeface="+mn-lt"/>
                <a:cs typeface="+mn-lt"/>
              </a:rPr>
              <a:t>Used as a linearization point in lock free algos</a:t>
            </a:r>
          </a:p>
          <a:p>
            <a:endParaRPr lang="en-US" sz="2800" dirty="0">
              <a:ea typeface="+mn-lt"/>
              <a:cs typeface="+mn-lt"/>
            </a:endParaRPr>
          </a:p>
          <a:p>
            <a:r>
              <a:rPr lang="en-US" sz="2800" dirty="0">
                <a:ea typeface="+mn-lt"/>
                <a:cs typeface="+mn-lt"/>
              </a:rPr>
              <a:t>C++ provides two versions: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 err="1">
                <a:ea typeface="+mn-lt"/>
                <a:cs typeface="+mn-lt"/>
              </a:rPr>
              <a:t>compare_exchange_weak</a:t>
            </a:r>
            <a:endParaRPr lang="en-US" sz="2800" dirty="0" err="1"/>
          </a:p>
          <a:p>
            <a:pPr marL="457200" indent="-457200">
              <a:buFont typeface="Arial"/>
              <a:buChar char="•"/>
            </a:pPr>
            <a:r>
              <a:rPr lang="en-US" sz="2800" dirty="0" err="1">
                <a:ea typeface="+mn-lt"/>
                <a:cs typeface="+mn-lt"/>
              </a:rPr>
              <a:t>compare_exchange_strong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09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CED23-C9E2-7D1A-478A-7C176D71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07ED4F-57C0-D41F-4940-C9C79CB232C8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34CAB-0D42-7453-BF9E-9128DA0B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36B263-DF4B-4879-06D3-EE564E9BC2B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92A34-0628-FF70-3343-368D7B6C6EE2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09CA1E-F22E-5FE3-44FF-C248C5798E0B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66841B-DBAC-0534-DB75-B2E5A3830936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6B8AF8-B45A-92A4-0294-7B99F23D65E7}"/>
              </a:ext>
            </a:extLst>
          </p:cNvPr>
          <p:cNvSpPr txBox="1"/>
          <p:nvPr/>
        </p:nvSpPr>
        <p:spPr>
          <a:xfrm>
            <a:off x="433003" y="327718"/>
            <a:ext cx="8776120" cy="769441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4400" b="1">
                <a:solidFill>
                  <a:srgbClr val="202C4A"/>
                </a:solidFill>
                <a:latin typeface="Aptos Display"/>
              </a:rPr>
              <a:t>Multiple Producer</a:t>
            </a:r>
            <a:r>
              <a:rPr lang="en-US" sz="4400" b="1" dirty="0">
                <a:solidFill>
                  <a:srgbClr val="202C4A"/>
                </a:solidFill>
                <a:latin typeface="Aptos Display"/>
              </a:rPr>
              <a:t>, Single Consumer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1FA0D-1EC2-9F23-AEF3-9A6D4DFE15A7}"/>
              </a:ext>
            </a:extLst>
          </p:cNvPr>
          <p:cNvSpPr txBox="1"/>
          <p:nvPr/>
        </p:nvSpPr>
        <p:spPr>
          <a:xfrm>
            <a:off x="426276" y="1412487"/>
            <a:ext cx="1071159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Funnels concurrent events into one stream </a:t>
            </a:r>
            <a:endParaRPr lang="en-US" dirty="0"/>
          </a:p>
          <a:p>
            <a:r>
              <a:rPr lang="en-US" sz="2800" dirty="0">
                <a:ea typeface="+mn-lt"/>
                <a:cs typeface="+mn-lt"/>
              </a:rPr>
              <a:t>Enables efficient asynchronous work handoff</a:t>
            </a:r>
            <a:endParaRPr lang="en-US" dirty="0">
              <a:ea typeface="+mn-lt"/>
              <a:cs typeface="+mn-lt"/>
            </a:endParaRPr>
          </a:p>
          <a:p>
            <a:r>
              <a:rPr lang="en-US" sz="2800" dirty="0"/>
              <a:t>Used in trading, logging, messaging 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3A399E-574C-994E-4047-4E8312DD8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46025" y="3431361"/>
            <a:ext cx="6096000" cy="313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491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ED567-426D-5D7C-2B33-61F21C2B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0633E1E-8B1B-FB2F-7C34-B3277290DBFC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255E9-1F28-0E94-8640-33B9B5F5D347}"/>
              </a:ext>
            </a:extLst>
          </p:cNvPr>
          <p:cNvSpPr/>
          <p:nvPr/>
        </p:nvSpPr>
        <p:spPr>
          <a:xfrm>
            <a:off x="343758" y="1303613"/>
            <a:ext cx="11498754" cy="4208187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BF507-BC65-9839-0A2D-5F7061CAB410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BC1B6-4228-C225-8AD8-0CC60B4A63D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0C9DA7-4663-BD3D-419F-F16558593F05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A4F8A9-D245-510E-E5E3-E062A7775D4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953FE7-0FA9-B102-D536-34A0122F69B2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9AE72A-A4E9-3650-4E4A-B4C6A99C42B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F1D146-93A7-8ECF-92A3-1F548802FBF5}"/>
              </a:ext>
            </a:extLst>
          </p:cNvPr>
          <p:cNvSpPr txBox="1"/>
          <p:nvPr/>
        </p:nvSpPr>
        <p:spPr>
          <a:xfrm>
            <a:off x="576179" y="442304"/>
            <a:ext cx="3086486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What do we need?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A6EB6-A4BA-7D3A-1419-7F7A1F7EF4EC}"/>
              </a:ext>
            </a:extLst>
          </p:cNvPr>
          <p:cNvSpPr txBox="1"/>
          <p:nvPr/>
        </p:nvSpPr>
        <p:spPr>
          <a:xfrm>
            <a:off x="429222" y="1400819"/>
            <a:ext cx="10795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Extremely fast enqueue without coordination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FIFO ordering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ea typeface="+mn-lt"/>
                <a:cs typeface="+mn-lt"/>
              </a:rPr>
              <a:t>Single-consumer dequeue and reclamation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Unbounded</a:t>
            </a:r>
          </a:p>
        </p:txBody>
      </p:sp>
    </p:spTree>
    <p:extLst>
      <p:ext uri="{BB962C8B-B14F-4D97-AF65-F5344CB8AC3E}">
        <p14:creationId xmlns:p14="http://schemas.microsoft.com/office/powerpoint/2010/main" val="1859939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85F3A-C9A1-B384-A323-62BBF9DE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7D5F489-0BE6-C288-E13C-096826FFC665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1B763A-1820-66E5-D87F-BD1DC522F03C}"/>
              </a:ext>
            </a:extLst>
          </p:cNvPr>
          <p:cNvSpPr/>
          <p:nvPr/>
        </p:nvSpPr>
        <p:spPr>
          <a:xfrm>
            <a:off x="30480" y="1031240"/>
            <a:ext cx="12161520" cy="48768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6822F-A379-F92F-8C2D-FAD5C0080510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36EF53-7B32-76EA-D5E5-234FD138AF0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31EA3C-BC0D-2215-C148-1AA1C1AFFBDA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F83D4B-0B10-E306-1130-6BD177629D0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C0443-EECF-D7E3-4E05-518B10C48B04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7B7168-5DA9-D55D-F841-C6D7986BA593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CA113E-351D-7D26-06E5-E13C9DDB494C}"/>
              </a:ext>
            </a:extLst>
          </p:cNvPr>
          <p:cNvSpPr txBox="1"/>
          <p:nvPr/>
        </p:nvSpPr>
        <p:spPr>
          <a:xfrm>
            <a:off x="736600" y="304800"/>
            <a:ext cx="3501087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 err="1">
                <a:solidFill>
                  <a:srgbClr val="202C4A"/>
                </a:solidFill>
                <a:latin typeface="Aptos Display"/>
              </a:rPr>
              <a:t>Vyukov</a:t>
            </a:r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 MPSC queue 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08CBC7-84CA-7DCA-2BB1-6965106C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" y="1466379"/>
            <a:ext cx="6021841" cy="3695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4FB5E9-62B9-393B-25CC-1D90371B4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563" y="1463970"/>
            <a:ext cx="5911146" cy="38007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1C1146-E391-372B-6934-5FE837CE73A4}"/>
              </a:ext>
            </a:extLst>
          </p:cNvPr>
          <p:cNvSpPr txBox="1"/>
          <p:nvPr/>
        </p:nvSpPr>
        <p:spPr>
          <a:xfrm>
            <a:off x="737964" y="823578"/>
            <a:ext cx="31447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202C4A"/>
                </a:solidFill>
                <a:latin typeface="Aptos Display"/>
              </a:rPr>
              <a:t>Linked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>
                <a:solidFill>
                  <a:srgbClr val="202C4A"/>
                </a:solidFill>
                <a:latin typeface="Aptos Display"/>
              </a:rPr>
              <a:t>List based queue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C7496-CDC9-B252-32E2-D94DE97B6E15}"/>
              </a:ext>
            </a:extLst>
          </p:cNvPr>
          <p:cNvSpPr txBox="1"/>
          <p:nvPr/>
        </p:nvSpPr>
        <p:spPr>
          <a:xfrm>
            <a:off x="2487042" y="2665223"/>
            <a:ext cx="27889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Linked list node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C753B-FBEA-ACD6-C68E-319C6DACA86A}"/>
              </a:ext>
            </a:extLst>
          </p:cNvPr>
          <p:cNvSpPr txBox="1"/>
          <p:nvPr/>
        </p:nvSpPr>
        <p:spPr>
          <a:xfrm>
            <a:off x="3048131" y="5260133"/>
            <a:ext cx="2929300" cy="9405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Consumer consumes at head, producer produces at tail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3B455-CAA2-E70A-AD9A-71F72DE0AA75}"/>
              </a:ext>
            </a:extLst>
          </p:cNvPr>
          <p:cNvSpPr txBox="1"/>
          <p:nvPr/>
        </p:nvSpPr>
        <p:spPr>
          <a:xfrm>
            <a:off x="6981295" y="2428430"/>
            <a:ext cx="4095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Read node having valid next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331C2-EBBC-0019-24C3-01F20F2D57B1}"/>
              </a:ext>
            </a:extLst>
          </p:cNvPr>
          <p:cNvSpPr txBox="1"/>
          <p:nvPr/>
        </p:nvSpPr>
        <p:spPr>
          <a:xfrm>
            <a:off x="8393367" y="4458991"/>
            <a:ext cx="40953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Move the dummy head forward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46891-5CD1-3C5A-362F-B9D44FC3F81D}"/>
              </a:ext>
            </a:extLst>
          </p:cNvPr>
          <p:cNvSpPr txBox="1"/>
          <p:nvPr/>
        </p:nvSpPr>
        <p:spPr>
          <a:xfrm>
            <a:off x="8276682" y="4832195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3D523-048C-3A57-A13F-4BDDB3A87F34}"/>
              </a:ext>
            </a:extLst>
          </p:cNvPr>
          <p:cNvSpPr txBox="1"/>
          <p:nvPr/>
        </p:nvSpPr>
        <p:spPr>
          <a:xfrm>
            <a:off x="8251902" y="4844585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0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349B6-60D0-C0E4-4BAC-E7A07A51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D953BC2-B574-8402-DD07-47CD7A548A84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C2F37E-B8E3-C509-F659-4370601692CF}"/>
              </a:ext>
            </a:extLst>
          </p:cNvPr>
          <p:cNvSpPr/>
          <p:nvPr/>
        </p:nvSpPr>
        <p:spPr>
          <a:xfrm>
            <a:off x="0" y="1320800"/>
            <a:ext cx="12192000" cy="419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A351F-5B71-866B-96A8-40829DE2A0CB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D7580E-98E3-07B3-5522-69AEE7D399B7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5D0228-1B0F-1548-2B7C-672D564F16E6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BE5E2F-0B97-AB4A-CD1E-65ABB89C149D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7312B0-0FB6-D10C-005C-25459F8BEE3E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04A311-CFC6-BF65-C819-075BEA00FDB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4F83C-BEE2-4050-458B-7FF593CC1BD2}"/>
              </a:ext>
            </a:extLst>
          </p:cNvPr>
          <p:cNvSpPr txBox="1"/>
          <p:nvPr/>
        </p:nvSpPr>
        <p:spPr>
          <a:xfrm>
            <a:off x="736600" y="304800"/>
            <a:ext cx="2680414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MPSC Producer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8CD0FB-6DC5-ADD2-FE79-5B62A262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47" y="2007770"/>
            <a:ext cx="9117931" cy="281238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CA5985-AE39-DD4C-C3D4-FD18EF8AB9F9}"/>
              </a:ext>
            </a:extLst>
          </p:cNvPr>
          <p:cNvCxnSpPr/>
          <p:nvPr/>
        </p:nvCxnSpPr>
        <p:spPr>
          <a:xfrm flipH="1">
            <a:off x="6537158" y="2506578"/>
            <a:ext cx="772026" cy="250657"/>
          </a:xfrm>
          <a:prstGeom prst="straightConnector1">
            <a:avLst/>
          </a:prstGeom>
          <a:ln w="19050" cap="flat" cmpd="sng" algn="ctr">
            <a:solidFill>
              <a:srgbClr val="E45756"/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29D5D9-23CA-05C3-62DE-E1CFB7160A0D}"/>
              </a:ext>
            </a:extLst>
          </p:cNvPr>
          <p:cNvSpPr txBox="1"/>
          <p:nvPr/>
        </p:nvSpPr>
        <p:spPr>
          <a:xfrm>
            <a:off x="7323507" y="2265946"/>
            <a:ext cx="4169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Lock free using node pool/allocators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C34E30-9779-151A-589B-80D03A2F9237}"/>
              </a:ext>
            </a:extLst>
          </p:cNvPr>
          <p:cNvCxnSpPr>
            <a:cxnSpLocks/>
          </p:cNvCxnSpPr>
          <p:nvPr/>
        </p:nvCxnSpPr>
        <p:spPr>
          <a:xfrm flipH="1">
            <a:off x="7108658" y="3128209"/>
            <a:ext cx="772026" cy="250657"/>
          </a:xfrm>
          <a:prstGeom prst="straightConnector1">
            <a:avLst/>
          </a:prstGeom>
          <a:ln w="19050" cap="flat" cmpd="sng" algn="ctr">
            <a:solidFill>
              <a:srgbClr val="E45756"/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9E7246-BFFB-47D2-2E46-E094E06298EE}"/>
              </a:ext>
            </a:extLst>
          </p:cNvPr>
          <p:cNvSpPr txBox="1"/>
          <p:nvPr/>
        </p:nvSpPr>
        <p:spPr>
          <a:xfrm>
            <a:off x="7900736" y="2887577"/>
            <a:ext cx="36255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Exchange node with tail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6E6D1-85D1-ADD6-1CA5-E09083962DEE}"/>
              </a:ext>
            </a:extLst>
          </p:cNvPr>
          <p:cNvSpPr txBox="1"/>
          <p:nvPr/>
        </p:nvSpPr>
        <p:spPr>
          <a:xfrm>
            <a:off x="8742946" y="4090734"/>
            <a:ext cx="330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node to the </a:t>
            </a:r>
            <a:r>
              <a:rPr lang="en-US" dirty="0" err="1">
                <a:solidFill>
                  <a:srgbClr val="FF0000"/>
                </a:solidFill>
              </a:rPr>
              <a:t>linkedlist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6C29DF2-6D8F-5073-52F3-4691EFCB99A0}"/>
              </a:ext>
            </a:extLst>
          </p:cNvPr>
          <p:cNvCxnSpPr>
            <a:cxnSpLocks/>
          </p:cNvCxnSpPr>
          <p:nvPr/>
        </p:nvCxnSpPr>
        <p:spPr>
          <a:xfrm flipH="1" flipV="1">
            <a:off x="8181474" y="4271208"/>
            <a:ext cx="561473" cy="1"/>
          </a:xfrm>
          <a:prstGeom prst="straightConnector1">
            <a:avLst/>
          </a:prstGeom>
          <a:ln w="19050" cap="flat" cmpd="sng" algn="ctr">
            <a:solidFill>
              <a:srgbClr val="E45756"/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64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681ED-4A56-EB02-49AD-E527E715B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8A4BCD-19A9-C25E-12EC-4417CB1B3904}"/>
              </a:ext>
            </a:extLst>
          </p:cNvPr>
          <p:cNvSpPr/>
          <p:nvPr/>
        </p:nvSpPr>
        <p:spPr>
          <a:xfrm>
            <a:off x="0" y="1300356"/>
            <a:ext cx="12192000" cy="419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BC502-5125-A29B-BCE0-F60CDB534E5B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B87818-6EAC-B1DD-2AEE-18767C66CFB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0A254-2189-3DA6-2034-7C0102BDD74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CD5762-4A67-2636-587B-2D89E4EF990F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BF99BB-C256-465A-8089-95616108258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AE1D19-D53A-706F-18EF-872DEDB4F526}"/>
              </a:ext>
            </a:extLst>
          </p:cNvPr>
          <p:cNvSpPr txBox="1"/>
          <p:nvPr/>
        </p:nvSpPr>
        <p:spPr>
          <a:xfrm>
            <a:off x="616284" y="405063"/>
            <a:ext cx="3208635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Producer operation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AC9A6E-B69E-52E1-E6DF-AC4A9CF9D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76" y="1298336"/>
            <a:ext cx="5398598" cy="1150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7492C5-C4B3-301D-43E0-47C458B93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193" y="2696148"/>
            <a:ext cx="6159883" cy="990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44569C-3A0E-D5AC-3316-30CFAF357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3892" y="4071336"/>
            <a:ext cx="6558195" cy="104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8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0F9C3-B57F-0C4A-0BF1-EA6B6573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26C607C-A424-B361-D0AC-FA3A26412B38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F20402-84AE-164A-C7CA-615C753D7764}"/>
              </a:ext>
            </a:extLst>
          </p:cNvPr>
          <p:cNvSpPr/>
          <p:nvPr/>
        </p:nvSpPr>
        <p:spPr>
          <a:xfrm>
            <a:off x="0" y="1320800"/>
            <a:ext cx="12192000" cy="419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30064-AFF4-2E6C-B9A9-647505A1C1D3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85551-64AE-9F1C-3FA2-98306F84351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41561B-50AB-7B39-878F-A32563F0639F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87DC2C-5DAF-9CA9-BA43-84B5E31FCEF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FB2908-5D5A-BAB8-FF23-B63DD8B1B390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1E313-BB25-9491-F4B9-7C0ED695CCE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370A2C-2CF7-575D-05A4-01B2B82A7F8A}"/>
              </a:ext>
            </a:extLst>
          </p:cNvPr>
          <p:cNvSpPr txBox="1"/>
          <p:nvPr/>
        </p:nvSpPr>
        <p:spPr>
          <a:xfrm>
            <a:off x="736600" y="304800"/>
            <a:ext cx="1813638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Lock free?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FA8D21-2647-3403-2F86-1C4258B2B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47" y="2007770"/>
            <a:ext cx="9117931" cy="2812381"/>
          </a:xfrm>
          <a:prstGeom prst="rect">
            <a:avLst/>
          </a:prstGeom>
        </p:spPr>
      </p:pic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647A7248-2792-F145-C200-FAE6B7FAA9C5}"/>
              </a:ext>
            </a:extLst>
          </p:cNvPr>
          <p:cNvSpPr/>
          <p:nvPr/>
        </p:nvSpPr>
        <p:spPr>
          <a:xfrm>
            <a:off x="992605" y="3779921"/>
            <a:ext cx="2979820" cy="1355558"/>
          </a:xfrm>
          <a:prstGeom prst="irregularSeal1">
            <a:avLst/>
          </a:prstGeom>
          <a:solidFill>
            <a:srgbClr val="E45756"/>
          </a:solidFill>
          <a:ln w="19050" cap="flat" cmpd="sng" algn="ctr">
            <a:solidFill>
              <a:srgbClr val="202C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Preempted</a:t>
            </a:r>
          </a:p>
        </p:txBody>
      </p:sp>
    </p:spTree>
    <p:extLst>
      <p:ext uri="{BB962C8B-B14F-4D97-AF65-F5344CB8AC3E}">
        <p14:creationId xmlns:p14="http://schemas.microsoft.com/office/powerpoint/2010/main" val="92124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65C3B-79B3-B730-83A1-C7B86BD4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DC6AE19-6859-A6EC-385E-2D5A955B6CFA}"/>
              </a:ext>
            </a:extLst>
          </p:cNvPr>
          <p:cNvSpPr/>
          <p:nvPr/>
        </p:nvSpPr>
        <p:spPr>
          <a:xfrm>
            <a:off x="0" y="1300356"/>
            <a:ext cx="12192000" cy="419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BA8C2-A0D6-5B8B-1146-C6283B275058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8B8CE9-3793-8B95-2710-2187FBD85AB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22585-9050-3E66-26AE-486B427D838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069B45-496C-B34A-DF60-4FFD3B5B35E9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6775FD-CC68-F09B-A1C2-7FDBEA34557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8C2BE9-5282-A0D6-1982-48E37E1DFCF9}"/>
              </a:ext>
            </a:extLst>
          </p:cNvPr>
          <p:cNvSpPr txBox="1"/>
          <p:nvPr/>
        </p:nvSpPr>
        <p:spPr>
          <a:xfrm>
            <a:off x="616284" y="405063"/>
            <a:ext cx="1813638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Lock free</a:t>
            </a:r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847A31-BD60-75D1-93E4-9D4FA658FB23}"/>
              </a:ext>
            </a:extLst>
          </p:cNvPr>
          <p:cNvSpPr txBox="1"/>
          <p:nvPr/>
        </p:nvSpPr>
        <p:spPr>
          <a:xfrm>
            <a:off x="9805736" y="3950368"/>
            <a:ext cx="200526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Consumer can be blocked from progress if producer stalls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3AE958-83D3-4236-419C-706A8808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76" y="1298336"/>
            <a:ext cx="5398598" cy="1150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ABC525-70DB-6A25-8ED6-438EC216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193" y="2696148"/>
            <a:ext cx="6159883" cy="990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9AEC04-B1ED-3B5A-9C2A-11BD8504E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676" y="4084092"/>
            <a:ext cx="7150196" cy="93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2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936BF-3E2A-5409-2BBE-265DC305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7C5C2B-C8B7-F1B5-6232-0A525D31C14B}"/>
              </a:ext>
            </a:extLst>
          </p:cNvPr>
          <p:cNvSpPr/>
          <p:nvPr/>
        </p:nvSpPr>
        <p:spPr>
          <a:xfrm>
            <a:off x="377257" y="1606732"/>
            <a:ext cx="11462667" cy="4622031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22A17-C8A2-150D-EDB5-8695B8F1A441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D64CAD-0522-F35C-2B6C-9A81C656FE54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D2074-24E2-5122-AE1C-96C4BA9B25EE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FB9764-AC2E-7BAF-F1E6-29ED2C746F0A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1DBE56-FC6D-8135-A147-866D1E80481A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95E759-79A5-72F4-AAF8-E49A1501CEFA}"/>
              </a:ext>
            </a:extLst>
          </p:cNvPr>
          <p:cNvSpPr txBox="1"/>
          <p:nvPr/>
        </p:nvSpPr>
        <p:spPr>
          <a:xfrm>
            <a:off x="616284" y="405063"/>
            <a:ext cx="4899739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SPMC/MPSC are not lock free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E4BFC-B79F-DB5C-042D-3AB64EEAD522}"/>
              </a:ext>
            </a:extLst>
          </p:cNvPr>
          <p:cNvSpPr txBox="1"/>
          <p:nvPr/>
        </p:nvSpPr>
        <p:spPr>
          <a:xfrm>
            <a:off x="433658" y="1660292"/>
            <a:ext cx="11287512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Slot ownership and data operations are multiple instructions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Thread stall can eventually stall the entire system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SPMC: 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Consumer first claims slot by CAS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If thread stalls after claim, it eventually blocks producer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MPSC: 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Producer stall after exchange can block consumer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56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F34C3-E1A7-F6DF-7E81-91098A96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BAEF77-9757-9208-2655-131EF5C4617E}"/>
              </a:ext>
            </a:extLst>
          </p:cNvPr>
          <p:cNvSpPr/>
          <p:nvPr/>
        </p:nvSpPr>
        <p:spPr>
          <a:xfrm>
            <a:off x="354167" y="1560551"/>
            <a:ext cx="11485757" cy="4191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ED9B5-D937-F5F6-A7ED-C944B57C3C00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289F4-2EBD-2BFF-221A-9E1C57C7D33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CE3369-E797-E8E8-B4CA-F3A9AF2041F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C6C39E-C3E8-3388-7280-DB06E5A4A5E8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BE9C2C-9C3A-DB24-1E8E-90D50F704A7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D15260-14C4-B2D9-D97D-41470ED22EDB}"/>
              </a:ext>
            </a:extLst>
          </p:cNvPr>
          <p:cNvSpPr txBox="1"/>
          <p:nvPr/>
        </p:nvSpPr>
        <p:spPr>
          <a:xfrm>
            <a:off x="616284" y="405063"/>
            <a:ext cx="6786345" cy="846386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Key takeaway: Lock less ≠ Lock Free</a:t>
            </a:r>
          </a:p>
          <a:p>
            <a:r>
              <a:rPr lang="en-US" sz="2000" dirty="0">
                <a:solidFill>
                  <a:srgbClr val="202C4A"/>
                </a:solidFill>
                <a:ea typeface="+mn-lt"/>
                <a:cs typeface="+mn-lt"/>
              </a:rPr>
              <a:t>Using atomics instead of mutex doesn't guarantee progress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AC914-6F22-64FB-E174-7682FEAC6C08}"/>
              </a:ext>
            </a:extLst>
          </p:cNvPr>
          <p:cNvSpPr txBox="1"/>
          <p:nvPr/>
        </p:nvSpPr>
        <p:spPr>
          <a:xfrm>
            <a:off x="433658" y="1660292"/>
            <a:ext cx="1128751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Where can a thread be suspended?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Who depends on that thread’s next step?</a:t>
            </a: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Can another thread complete or repair it?</a:t>
            </a:r>
            <a:endParaRPr lang="en-US" sz="2800" dirty="0"/>
          </a:p>
          <a:p>
            <a:pPr algn="l"/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Progress is a property of the whole protocol, not its individual primitives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87759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6A487-42A0-B65C-A00E-1E2D46DF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riginal header band">
            <a:extLst>
              <a:ext uri="{FF2B5EF4-FFF2-40B4-BE49-F238E27FC236}">
                <a16:creationId xmlns:a16="http://schemas.microsoft.com/office/drawing/2014/main" id="{F619FF54-C6DA-483B-884A-CEF5C235B43A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riginal title accent">
            <a:extLst>
              <a:ext uri="{FF2B5EF4-FFF2-40B4-BE49-F238E27FC236}">
                <a16:creationId xmlns:a16="http://schemas.microsoft.com/office/drawing/2014/main" id="{5BE0B3AF-96E0-4C7D-9326-02B798214073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riginal title">
            <a:extLst>
              <a:ext uri="{FF2B5EF4-FFF2-40B4-BE49-F238E27FC236}">
                <a16:creationId xmlns:a16="http://schemas.microsoft.com/office/drawing/2014/main" id="{00F2A347-5079-46DF-88CA-19C855086FF7}"/>
              </a:ext>
            </a:extLst>
          </p:cNvPr>
          <p:cNvSpPr txBox="1"/>
          <p:nvPr/>
        </p:nvSpPr>
        <p:spPr>
          <a:xfrm>
            <a:off x="616284" y="405062"/>
            <a:ext cx="6102695" cy="53860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900" b="1">
                <a:solidFill>
                  <a:srgbClr val="202C4A"/>
                </a:solidFill>
                <a:latin typeface="Aptos Display"/>
              </a:rPr>
              <a:t>Vyukov queue vs Michael Scott queue</a:t>
            </a:r>
          </a:p>
        </p:txBody>
      </p:sp>
      <p:sp>
        <p:nvSpPr>
          <p:cNvPr id="50" name="Original content panel">
            <a:extLst>
              <a:ext uri="{FF2B5EF4-FFF2-40B4-BE49-F238E27FC236}">
                <a16:creationId xmlns:a16="http://schemas.microsoft.com/office/drawing/2014/main" id="{25C807FE-A91C-4830-9C4D-6A3E857D5CCD}"/>
              </a:ext>
            </a:extLst>
          </p:cNvPr>
          <p:cNvSpPr/>
          <p:nvPr/>
        </p:nvSpPr>
        <p:spPr>
          <a:xfrm>
            <a:off x="246359" y="1287854"/>
            <a:ext cx="11682092" cy="417381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riginal bottom prompt">
            <a:extLst>
              <a:ext uri="{FF2B5EF4-FFF2-40B4-BE49-F238E27FC236}">
                <a16:creationId xmlns:a16="http://schemas.microsoft.com/office/drawing/2014/main" id="{905C2418-5C82-426F-804B-CB2992D876AD}"/>
              </a:ext>
            </a:extLst>
          </p:cNvPr>
          <p:cNvSpPr txBox="1"/>
          <p:nvPr/>
        </p:nvSpPr>
        <p:spPr>
          <a:xfrm>
            <a:off x="3693402" y="4568382"/>
            <a:ext cx="5163552" cy="523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lIns="91440" tIns="45720" rIns="91440" bIns="45720" rtlCol="0" anchor="ctr" anchorCtr="0">
            <a:normAutofit/>
          </a:bodyPr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Aptos"/>
              </a:rPr>
              <a:t>MPSC vs multiple SPSC?</a:t>
            </a:r>
          </a:p>
        </p:txBody>
      </p:sp>
      <p:sp>
        <p:nvSpPr>
          <p:cNvPr id="53" name="Restored bullet 1">
            <a:extLst>
              <a:ext uri="{FF2B5EF4-FFF2-40B4-BE49-F238E27FC236}">
                <a16:creationId xmlns:a16="http://schemas.microsoft.com/office/drawing/2014/main" id="{524228F5-0D6C-4F7C-B973-AA014DF14974}"/>
              </a:ext>
            </a:extLst>
          </p:cNvPr>
          <p:cNvSpPr/>
          <p:nvPr/>
        </p:nvSpPr>
        <p:spPr>
          <a:xfrm>
            <a:off x="450850" y="1568450"/>
            <a:ext cx="88900" cy="88900"/>
          </a:xfrm>
          <a:prstGeom prst="ellipse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estored bullet text 1">
            <a:extLst>
              <a:ext uri="{FF2B5EF4-FFF2-40B4-BE49-F238E27FC236}">
                <a16:creationId xmlns:a16="http://schemas.microsoft.com/office/drawing/2014/main" id="{4BB5BCCE-2015-4252-A156-DFA84027F7CB}"/>
              </a:ext>
            </a:extLst>
          </p:cNvPr>
          <p:cNvSpPr txBox="1"/>
          <p:nvPr/>
        </p:nvSpPr>
        <p:spPr>
          <a:xfrm>
            <a:off x="914400" y="1397000"/>
            <a:ext cx="10731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pPr algn="l"/>
            <a:r>
              <a:rPr lang="en-US" sz="2800">
                <a:solidFill>
                  <a:srgbClr val="000000"/>
                </a:solidFill>
                <a:latin typeface="Aptos"/>
              </a:rPr>
              <a:t>Michael Scott MPSC queue is lock free</a:t>
            </a:r>
          </a:p>
        </p:txBody>
      </p:sp>
      <p:sp>
        <p:nvSpPr>
          <p:cNvPr id="55" name="Restored bullet 2">
            <a:extLst>
              <a:ext uri="{FF2B5EF4-FFF2-40B4-BE49-F238E27FC236}">
                <a16:creationId xmlns:a16="http://schemas.microsoft.com/office/drawing/2014/main" id="{0DF4DB4A-9F8D-4C7E-B7A4-A445351B78F4}"/>
              </a:ext>
            </a:extLst>
          </p:cNvPr>
          <p:cNvSpPr/>
          <p:nvPr/>
        </p:nvSpPr>
        <p:spPr>
          <a:xfrm>
            <a:off x="450850" y="2006600"/>
            <a:ext cx="88900" cy="88900"/>
          </a:xfrm>
          <a:prstGeom prst="ellipse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Restored bullet text 2">
            <a:extLst>
              <a:ext uri="{FF2B5EF4-FFF2-40B4-BE49-F238E27FC236}">
                <a16:creationId xmlns:a16="http://schemas.microsoft.com/office/drawing/2014/main" id="{6E52E6FD-F983-4114-98C0-9036CE2F5F37}"/>
              </a:ext>
            </a:extLst>
          </p:cNvPr>
          <p:cNvSpPr txBox="1"/>
          <p:nvPr/>
        </p:nvSpPr>
        <p:spPr>
          <a:xfrm>
            <a:off x="914400" y="1835150"/>
            <a:ext cx="10731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>
                <a:solidFill>
                  <a:srgbClr val="000000"/>
                </a:solidFill>
                <a:latin typeface="Aptos"/>
              </a:rPr>
              <a:t>CAS operation in the producer path i.e. </a:t>
            </a:r>
            <a:r>
              <a:rPr lang="en-US" sz="2800">
                <a:solidFill>
                  <a:srgbClr val="FF0000"/>
                </a:solidFill>
                <a:latin typeface="Aptos"/>
              </a:rPr>
              <a:t>retry loops</a:t>
            </a:r>
            <a:endParaRPr lang="en-US" sz="28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Restored bullet 3">
            <a:extLst>
              <a:ext uri="{FF2B5EF4-FFF2-40B4-BE49-F238E27FC236}">
                <a16:creationId xmlns:a16="http://schemas.microsoft.com/office/drawing/2014/main" id="{88CA4910-F883-4B26-9CCB-AC1148B9F663}"/>
              </a:ext>
            </a:extLst>
          </p:cNvPr>
          <p:cNvSpPr/>
          <p:nvPr/>
        </p:nvSpPr>
        <p:spPr>
          <a:xfrm>
            <a:off x="450850" y="2444750"/>
            <a:ext cx="88900" cy="88900"/>
          </a:xfrm>
          <a:prstGeom prst="ellipse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stored bullet text 3">
            <a:extLst>
              <a:ext uri="{FF2B5EF4-FFF2-40B4-BE49-F238E27FC236}">
                <a16:creationId xmlns:a16="http://schemas.microsoft.com/office/drawing/2014/main" id="{C7A1CA61-494F-43EA-8745-79CA1E9DC3CB}"/>
              </a:ext>
            </a:extLst>
          </p:cNvPr>
          <p:cNvSpPr txBox="1"/>
          <p:nvPr/>
        </p:nvSpPr>
        <p:spPr>
          <a:xfrm>
            <a:off x="914400" y="2273300"/>
            <a:ext cx="10731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">
                <a:solidFill>
                  <a:srgbClr val="000000"/>
                </a:solidFill>
                <a:latin typeface="Aptos"/>
              </a:rPr>
              <a:t>Vyukov queue producers have predictable performance</a:t>
            </a:r>
          </a:p>
        </p:txBody>
      </p:sp>
      <p:sp>
        <p:nvSpPr>
          <p:cNvPr id="59" name="Restored bullet 4">
            <a:extLst>
              <a:ext uri="{FF2B5EF4-FFF2-40B4-BE49-F238E27FC236}">
                <a16:creationId xmlns:a16="http://schemas.microsoft.com/office/drawing/2014/main" id="{D1CEA3D3-A527-443E-A553-11F500586033}"/>
              </a:ext>
            </a:extLst>
          </p:cNvPr>
          <p:cNvSpPr/>
          <p:nvPr/>
        </p:nvSpPr>
        <p:spPr>
          <a:xfrm>
            <a:off x="450850" y="2882900"/>
            <a:ext cx="88900" cy="88900"/>
          </a:xfrm>
          <a:prstGeom prst="ellipse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Restored bullet text 4">
            <a:extLst>
              <a:ext uri="{FF2B5EF4-FFF2-40B4-BE49-F238E27FC236}">
                <a16:creationId xmlns:a16="http://schemas.microsoft.com/office/drawing/2014/main" id="{DF326AC9-A68E-41DC-B115-7FE5697C0EFE}"/>
              </a:ext>
            </a:extLst>
          </p:cNvPr>
          <p:cNvSpPr txBox="1"/>
          <p:nvPr/>
        </p:nvSpPr>
        <p:spPr>
          <a:xfrm>
            <a:off x="914400" y="2711450"/>
            <a:ext cx="107315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pPr algn="l"/>
            <a:r>
              <a:rPr lang="en-US" sz="2800" dirty="0">
                <a:solidFill>
                  <a:srgbClr val="000000"/>
                </a:solidFill>
                <a:latin typeface="Aptos"/>
              </a:rPr>
              <a:t>Consumer inherits producer scheduling delay</a:t>
            </a:r>
          </a:p>
        </p:txBody>
      </p:sp>
    </p:spTree>
    <p:extLst>
      <p:ext uri="{BB962C8B-B14F-4D97-AF65-F5344CB8AC3E}">
        <p14:creationId xmlns:p14="http://schemas.microsoft.com/office/powerpoint/2010/main" val="10735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37E00-A0B2-2824-4BA3-41898D04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76C1F92-ED58-7045-FF3E-6F3FCB059129}"/>
              </a:ext>
            </a:extLst>
          </p:cNvPr>
          <p:cNvSpPr/>
          <p:nvPr/>
        </p:nvSpPr>
        <p:spPr>
          <a:xfrm>
            <a:off x="0" y="0"/>
            <a:ext cx="12192000" cy="11938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9EA82-0FD8-AFD4-3B9D-FB633720B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304800"/>
            <a:ext cx="10795000" cy="812800"/>
          </a:xfrm>
        </p:spPr>
        <p:txBody>
          <a:bodyPr>
            <a:norm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  <a:ea typeface="+mj-lt"/>
                <a:cs typeface="+mj-lt"/>
              </a:rPr>
              <a:t>alignas controls placement—not object size</a:t>
            </a:r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73778A-9EAE-18A0-328A-DDF52BF31D42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DDAB4B-0310-D60F-22E5-E9D1C9E3C10B}"/>
              </a:ext>
            </a:extLst>
          </p:cNvPr>
          <p:cNvSpPr/>
          <p:nvPr/>
        </p:nvSpPr>
        <p:spPr>
          <a:xfrm>
            <a:off x="0" y="1193800"/>
            <a:ext cx="12192000" cy="762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7FB69-9DEA-F339-86ED-B25D5EA0A37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E0A977-EFF4-FFB0-D34C-DD3AB0746B5B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D76506-10E9-D269-8E6E-93B3ACE2CA5E}"/>
              </a:ext>
            </a:extLst>
          </p:cNvPr>
          <p:cNvSpPr txBox="1"/>
          <p:nvPr/>
        </p:nvSpPr>
        <p:spPr>
          <a:xfrm>
            <a:off x="610556" y="327718"/>
            <a:ext cx="7777450" cy="120032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4400" b="1" dirty="0">
                <a:solidFill>
                  <a:srgbClr val="202C4A"/>
                </a:solidFill>
                <a:latin typeface="Aptos Display"/>
              </a:rPr>
              <a:t>Multi Producer, Multi Consumer</a:t>
            </a:r>
          </a:p>
          <a:p>
            <a:r>
              <a:rPr lang="en-US" sz="2800" b="1" dirty="0">
                <a:solidFill>
                  <a:srgbClr val="202C4A"/>
                </a:solidFill>
                <a:latin typeface="Aptos Display"/>
              </a:rPr>
              <a:t>Bounded circular queue, FIFO, Lock free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95ED1-EB11-A472-CA04-D9DA568BB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6" y="2063782"/>
            <a:ext cx="8907187" cy="42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46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EA281-5A1B-302B-27E0-76157857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8FD720-A28F-4A0B-EB2A-083D1362C472}"/>
              </a:ext>
            </a:extLst>
          </p:cNvPr>
          <p:cNvSpPr/>
          <p:nvPr/>
        </p:nvSpPr>
        <p:spPr>
          <a:xfrm>
            <a:off x="190715" y="1310715"/>
            <a:ext cx="11784592" cy="525722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497CE-B9ED-D8AA-24B2-9DEDA0088FBC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2C9B33-58C8-E58B-7FAB-D0ABD75B356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7BEBA8-D24D-CC07-9F69-3771E6BA07D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B3892-6A87-FDA6-B2F8-2E72BA6D5463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7B8C9F-3C6B-E036-2C78-28BAB6CB6CC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93EB1-82D3-8DF8-ACDB-6A0D861170E7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How do we make it truly lock free?</a:t>
            </a:r>
          </a:p>
          <a:p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D7CDA-6907-22DF-A7E4-08A0510F6C6C}"/>
              </a:ext>
            </a:extLst>
          </p:cNvPr>
          <p:cNvSpPr txBox="1"/>
          <p:nvPr/>
        </p:nvSpPr>
        <p:spPr>
          <a:xfrm>
            <a:off x="383935" y="1315023"/>
            <a:ext cx="1127311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 Can we publish slot in one atomic instructions?</a:t>
            </a:r>
            <a:endParaRPr lang="en-US" sz="2800" dirty="0"/>
          </a:p>
          <a:p>
            <a:pPr>
              <a:buFont typeface="Arial"/>
              <a:buChar char="•"/>
            </a:pPr>
            <a:r>
              <a:rPr lang="en-US" sz="2800" dirty="0"/>
              <a:t> Can we repair queue state if thread stalls?</a:t>
            </a:r>
          </a:p>
          <a:p>
            <a:pPr>
              <a:buFont typeface="Arial"/>
              <a:buChar char="•"/>
            </a:pPr>
            <a:endParaRPr lang="en-US" sz="2800" dirty="0"/>
          </a:p>
          <a:p>
            <a:pPr>
              <a:buFont typeface="Arial"/>
              <a:buChar char="•"/>
            </a:pPr>
            <a:endParaRPr lang="en-US" sz="2800" dirty="0"/>
          </a:p>
          <a:p>
            <a:endParaRPr lang="en-US" sz="280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91D35-DE24-42AA-291A-B72E1F9A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55" y="3047221"/>
            <a:ext cx="5137235" cy="351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51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2B1DB-17CE-AC16-8C46-338A8D0B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DB5F5B-9ABF-05CD-8CBC-63C65CE9B7DE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8257E4-7B4F-1115-6B41-8ADB475EE87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69837-D49D-A78D-0200-EDEAB30891D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A7755-0B59-4EE5-7320-9D05979B2655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C9E1DA-0F29-CA8C-4D56-97CF998A049D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63EE2-B091-57FA-74C3-534A077AA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70" y="578385"/>
            <a:ext cx="10998506" cy="619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57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D9447-260A-EC6D-9F6A-936BBA12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000DA75-E5B1-04DB-3751-09C1734F6A79}"/>
              </a:ext>
            </a:extLst>
          </p:cNvPr>
          <p:cNvSpPr/>
          <p:nvPr/>
        </p:nvSpPr>
        <p:spPr>
          <a:xfrm>
            <a:off x="0" y="1289029"/>
            <a:ext cx="12192000" cy="5255964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B1A39-38F1-1B9B-73BD-A8898EC80437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44DED9-5277-BA3B-29D2-60CFFDD404EB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90D33C-3924-A341-93CC-3D73E9CBB2F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82E898-317D-D56B-D99F-1DBAB5653FEE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C27ED-6964-41E3-4A7D-5D472026504F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D02FB-7198-6980-0BB0-AAF2D9FDBCF4}"/>
              </a:ext>
            </a:extLst>
          </p:cNvPr>
          <p:cNvSpPr txBox="1"/>
          <p:nvPr/>
        </p:nvSpPr>
        <p:spPr>
          <a:xfrm>
            <a:off x="616284" y="405063"/>
            <a:ext cx="3070008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Code walkthrough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EF6C4-4E4B-E516-A145-69E2A6631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76" y="1269005"/>
            <a:ext cx="6686550" cy="52197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9E3A56-6A77-6C60-4E6D-A53385FFE067}"/>
              </a:ext>
            </a:extLst>
          </p:cNvPr>
          <p:cNvCxnSpPr/>
          <p:nvPr/>
        </p:nvCxnSpPr>
        <p:spPr>
          <a:xfrm flipH="1" flipV="1">
            <a:off x="6126078" y="3755140"/>
            <a:ext cx="1050888" cy="1830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727FB1-D6E1-A66E-A29D-B5EBB6B93575}"/>
              </a:ext>
            </a:extLst>
          </p:cNvPr>
          <p:cNvSpPr txBox="1"/>
          <p:nvPr/>
        </p:nvSpPr>
        <p:spPr>
          <a:xfrm>
            <a:off x="7235278" y="3762513"/>
            <a:ext cx="45589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Wrap entry and place on individual cache 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1477C9-063E-AF7B-1B06-28857DBAE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172" y="1447939"/>
            <a:ext cx="4791075" cy="155608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A7CD5BB-5E66-2641-1206-B7FD2F755ED6}"/>
              </a:ext>
            </a:extLst>
          </p:cNvPr>
          <p:cNvCxnSpPr>
            <a:cxnSpLocks/>
          </p:cNvCxnSpPr>
          <p:nvPr/>
        </p:nvCxnSpPr>
        <p:spPr>
          <a:xfrm flipH="1" flipV="1">
            <a:off x="6138467" y="4826895"/>
            <a:ext cx="1050888" cy="1830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245E03A-4ED9-829E-07B9-DD8C09068BD8}"/>
              </a:ext>
            </a:extLst>
          </p:cNvPr>
          <p:cNvSpPr txBox="1"/>
          <p:nvPr/>
        </p:nvSpPr>
        <p:spPr>
          <a:xfrm>
            <a:off x="7258194" y="4857185"/>
            <a:ext cx="3991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Assert lock free double width CAS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D3ACA-CFDA-6D00-5B30-B7EC226A3391}"/>
              </a:ext>
            </a:extLst>
          </p:cNvPr>
          <p:cNvSpPr txBox="1"/>
          <p:nvPr/>
        </p:nvSpPr>
        <p:spPr>
          <a:xfrm>
            <a:off x="2152834" y="2500544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Entry contains data and sequence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32D11-B397-69D3-0152-60C0E4C6FF70}"/>
              </a:ext>
            </a:extLst>
          </p:cNvPr>
          <p:cNvSpPr txBox="1"/>
          <p:nvPr/>
        </p:nvSpPr>
        <p:spPr>
          <a:xfrm>
            <a:off x="7294485" y="585926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Define read/write cursors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A64456-BB26-89EB-7978-2849EE29E5F8}"/>
              </a:ext>
            </a:extLst>
          </p:cNvPr>
          <p:cNvSpPr txBox="1"/>
          <p:nvPr/>
        </p:nvSpPr>
        <p:spPr>
          <a:xfrm>
            <a:off x="8137864" y="2803864"/>
            <a:ext cx="3527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Init slots with {empty, 2*index}</a:t>
            </a:r>
          </a:p>
        </p:txBody>
      </p:sp>
    </p:spTree>
    <p:extLst>
      <p:ext uri="{BB962C8B-B14F-4D97-AF65-F5344CB8AC3E}">
        <p14:creationId xmlns:p14="http://schemas.microsoft.com/office/powerpoint/2010/main" val="339717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9B956-EC79-D80A-64A6-016D0805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BD346EB-D7E9-A09F-0ADD-D21CAD0BB39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4E6FA6-8294-DECF-9820-FBC279370F1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5B2F72-3EE7-61E7-53C8-B3DDD492EAC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35E0C-D1FC-3696-E086-EC75B17635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6" r="-92" b="12968"/>
          <a:stretch>
            <a:fillRect/>
          </a:stretch>
        </p:blipFill>
        <p:spPr>
          <a:xfrm>
            <a:off x="2090636" y="2774"/>
            <a:ext cx="8498999" cy="67022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5B535B-89FD-A3FA-8AEF-FA7BB3B822CA}"/>
              </a:ext>
            </a:extLst>
          </p:cNvPr>
          <p:cNvSpPr/>
          <p:nvPr/>
        </p:nvSpPr>
        <p:spPr>
          <a:xfrm>
            <a:off x="2795200" y="4457233"/>
            <a:ext cx="7292927" cy="13057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E9E76-DE88-FC76-E899-1C704BDF7D1F}"/>
              </a:ext>
            </a:extLst>
          </p:cNvPr>
          <p:cNvSpPr txBox="1"/>
          <p:nvPr/>
        </p:nvSpPr>
        <p:spPr>
          <a:xfrm>
            <a:off x="10087933" y="4648900"/>
            <a:ext cx="2396289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Complete pending operations left by other threads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907287-9082-E863-CEF9-8566A44D0957}"/>
              </a:ext>
            </a:extLst>
          </p:cNvPr>
          <p:cNvCxnSpPr/>
          <p:nvPr/>
        </p:nvCxnSpPr>
        <p:spPr>
          <a:xfrm flipH="1">
            <a:off x="8728151" y="2526533"/>
            <a:ext cx="461210" cy="350921"/>
          </a:xfrm>
          <a:prstGeom prst="straightConnector1">
            <a:avLst/>
          </a:prstGeom>
          <a:ln w="19050" cap="flat" cmpd="sng" algn="ctr">
            <a:solidFill>
              <a:srgbClr val="E45756"/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861DAE7-F495-1A5F-D7CD-1DB61B5C73A6}"/>
              </a:ext>
            </a:extLst>
          </p:cNvPr>
          <p:cNvSpPr txBox="1"/>
          <p:nvPr/>
        </p:nvSpPr>
        <p:spPr>
          <a:xfrm>
            <a:off x="9212043" y="2268965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Write state and data into slot using one operation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C71092-3A3A-5B4A-4D97-D7440A6A9B33}"/>
              </a:ext>
            </a:extLst>
          </p:cNvPr>
          <p:cNvCxnSpPr/>
          <p:nvPr/>
        </p:nvCxnSpPr>
        <p:spPr>
          <a:xfrm>
            <a:off x="2038164" y="3385196"/>
            <a:ext cx="1513973" cy="90236"/>
          </a:xfrm>
          <a:prstGeom prst="straightConnector1">
            <a:avLst/>
          </a:prstGeom>
          <a:ln w="19050" cap="flat" cmpd="sng" algn="ctr">
            <a:solidFill>
              <a:srgbClr val="E45756"/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F8B5EB-786C-BC29-5EFE-8DC3D5E28504}"/>
              </a:ext>
            </a:extLst>
          </p:cNvPr>
          <p:cNvSpPr txBox="1"/>
          <p:nvPr/>
        </p:nvSpPr>
        <p:spPr>
          <a:xfrm>
            <a:off x="531294" y="2909108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CAS needed on write </a:t>
            </a:r>
            <a:r>
              <a:rPr lang="en-US">
                <a:solidFill>
                  <a:srgbClr val="FF0000"/>
                </a:solidFill>
              </a:rPr>
              <a:t>index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44E081-CD1A-EA67-3539-794F0AB50FA6}"/>
              </a:ext>
            </a:extLst>
          </p:cNvPr>
          <p:cNvSpPr txBox="1"/>
          <p:nvPr/>
        </p:nvSpPr>
        <p:spPr>
          <a:xfrm>
            <a:off x="528459" y="4789438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Thread coordination block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D3269-5482-CCA2-5230-B0071445AE25}"/>
              </a:ext>
            </a:extLst>
          </p:cNvPr>
          <p:cNvSpPr txBox="1"/>
          <p:nvPr/>
        </p:nvSpPr>
        <p:spPr>
          <a:xfrm>
            <a:off x="8285825" y="954349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Load the next slot and read sequence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D12DA-494E-6251-6038-4BB0A4485DCB}"/>
              </a:ext>
            </a:extLst>
          </p:cNvPr>
          <p:cNvSpPr txBox="1"/>
          <p:nvPr/>
        </p:nvSpPr>
        <p:spPr>
          <a:xfrm>
            <a:off x="4964097" y="2130640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if empty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46DB1-D541-3FFC-60C7-8C2A7AB4325E}"/>
              </a:ext>
            </a:extLst>
          </p:cNvPr>
          <p:cNvSpPr txBox="1"/>
          <p:nvPr/>
        </p:nvSpPr>
        <p:spPr>
          <a:xfrm>
            <a:off x="4719961" y="619957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Return if queue is full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28167C-F1D1-3812-791A-C29382C55221}"/>
              </a:ext>
            </a:extLst>
          </p:cNvPr>
          <p:cNvCxnSpPr/>
          <p:nvPr/>
        </p:nvCxnSpPr>
        <p:spPr>
          <a:xfrm flipH="1">
            <a:off x="6357813" y="4069768"/>
            <a:ext cx="461210" cy="350921"/>
          </a:xfrm>
          <a:prstGeom prst="straightConnector1">
            <a:avLst/>
          </a:prstGeom>
          <a:ln w="19050" cap="flat" cmpd="sng" algn="ctr">
            <a:solidFill>
              <a:srgbClr val="E45756"/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3C25CA-CE3A-AB4F-1440-456B20DC94C2}"/>
              </a:ext>
            </a:extLst>
          </p:cNvPr>
          <p:cNvSpPr txBox="1"/>
          <p:nvPr/>
        </p:nvSpPr>
        <p:spPr>
          <a:xfrm>
            <a:off x="6843204" y="3854388"/>
            <a:ext cx="38972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if queue is in broken state</a:t>
            </a:r>
          </a:p>
        </p:txBody>
      </p:sp>
    </p:spTree>
    <p:extLst>
      <p:ext uri="{BB962C8B-B14F-4D97-AF65-F5344CB8AC3E}">
        <p14:creationId xmlns:p14="http://schemas.microsoft.com/office/powerpoint/2010/main" val="371822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9" grpId="0"/>
      <p:bldP spid="22" grpId="0"/>
      <p:bldP spid="2" grpId="0"/>
      <p:bldP spid="5" grpId="0"/>
      <p:bldP spid="6" grpId="0"/>
      <p:bldP spid="7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D70F8-ECE8-FB72-F8BD-DD8A4AFF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AA72C3-5757-9AE2-4DE3-551508CA8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790"/>
          <a:stretch>
            <a:fillRect/>
          </a:stretch>
        </p:blipFill>
        <p:spPr>
          <a:xfrm>
            <a:off x="2142159" y="-572"/>
            <a:ext cx="8258729" cy="66817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DFB18F-ACAD-521D-F8D8-34F908539D0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5FCFF4-AE8F-5C2D-D5A8-9A1CAEF00FD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B6383E-5AC2-BCED-B155-FB87752D567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98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8A940-A75D-3F5A-1205-1355F91A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5834726-C172-E212-3F43-D276EC72ADDC}"/>
              </a:ext>
            </a:extLst>
          </p:cNvPr>
          <p:cNvSpPr/>
          <p:nvPr/>
        </p:nvSpPr>
        <p:spPr>
          <a:xfrm>
            <a:off x="190715" y="1310715"/>
            <a:ext cx="11784592" cy="5257223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91440" tIns="45720" rIns="91440" bIns="45720" rtlCol="0" anchor="t"/>
          <a:lstStyle/>
          <a:p>
            <a:pPr marL="285750" indent="-285750" algn="l">
              <a:buFont typeface="Arial"/>
              <a:buChar char="•"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D3241-F2D7-6BF0-EC64-364BA3C9B2C6}"/>
              </a:ext>
            </a:extLst>
          </p:cNvPr>
          <p:cNvSpPr txBox="1"/>
          <p:nvPr/>
        </p:nvSpPr>
        <p:spPr>
          <a:xfrm>
            <a:off x="736600" y="304800"/>
            <a:ext cx="10795000" cy="812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SPSC Queue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62711A-AFB2-C2B4-53FB-00411316E7CB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674DE-88B6-A64B-46CE-F4B0CBC1B861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A272DE-5D88-8BCF-6748-CBE0652714A4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F1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6AD505-2A44-7126-830C-28C87777B725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EADB2-9D1B-D026-38B3-3ABE943E0D65}"/>
              </a:ext>
            </a:extLst>
          </p:cNvPr>
          <p:cNvSpPr txBox="1"/>
          <p:nvPr/>
        </p:nvSpPr>
        <p:spPr>
          <a:xfrm>
            <a:off x="736600" y="304800"/>
            <a:ext cx="6303329" cy="984885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 dirty="0">
                <a:solidFill>
                  <a:srgbClr val="202C4A"/>
                </a:solidFill>
                <a:latin typeface="Aptos Display"/>
              </a:rPr>
              <a:t>Key takeaway: Threads help each other</a:t>
            </a:r>
            <a:endParaRPr lang="en-US" dirty="0"/>
          </a:p>
          <a:p>
            <a:endParaRPr lang="en-US" sz="2900" b="1" dirty="0">
              <a:solidFill>
                <a:srgbClr val="202C4A"/>
              </a:solidFill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8407F-4722-4AAA-1F04-17CE8DC41CC4}"/>
              </a:ext>
            </a:extLst>
          </p:cNvPr>
          <p:cNvSpPr txBox="1"/>
          <p:nvPr/>
        </p:nvSpPr>
        <p:spPr>
          <a:xfrm>
            <a:off x="272585" y="1400097"/>
            <a:ext cx="11547707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a typeface="+mn-lt"/>
                <a:cs typeface="+mn-lt"/>
              </a:rPr>
              <a:t>For the algorithm to remain lock-free: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Incomplete state must be detectable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Required information must be published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Another thread can complete the operation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No progress depends on the original thread</a:t>
            </a:r>
            <a:endParaRPr lang="en-US" dirty="0"/>
          </a:p>
          <a:p>
            <a:br>
              <a:rPr lang="en-US" sz="2800" dirty="0"/>
            </a:br>
            <a:endParaRPr lang="en-US" sz="280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85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enchmark_Background">
            <a:extLst>
              <a:ext uri="{FF2B5EF4-FFF2-40B4-BE49-F238E27FC236}">
                <a16:creationId xmlns:a16="http://schemas.microsoft.com/office/drawing/2014/main" id="{FB24F03A-BD76-4625-BE90-7402A9D817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itle_Accent">
            <a:extLst>
              <a:ext uri="{FF2B5EF4-FFF2-40B4-BE49-F238E27FC236}">
                <a16:creationId xmlns:a16="http://schemas.microsoft.com/office/drawing/2014/main" id="{5C908D29-5FDC-4E0A-93BD-A2D07BB88834}"/>
              </a:ext>
            </a:extLst>
          </p:cNvPr>
          <p:cNvSpPr/>
          <p:nvPr/>
        </p:nvSpPr>
        <p:spPr>
          <a:xfrm>
            <a:off x="457200" y="355600"/>
            <a:ext cx="76200" cy="571500"/>
          </a:xfrm>
          <a:prstGeom prst="rect">
            <a:avLst/>
          </a:prstGeom>
          <a:solidFill>
            <a:srgbClr val="FFA6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Benchmark_Title">
            <a:extLst>
              <a:ext uri="{FF2B5EF4-FFF2-40B4-BE49-F238E27FC236}">
                <a16:creationId xmlns:a16="http://schemas.microsoft.com/office/drawing/2014/main" id="{38AD5606-5614-4E99-8B8A-AACAE91FB239}"/>
              </a:ext>
            </a:extLst>
          </p:cNvPr>
          <p:cNvSpPr txBox="1"/>
          <p:nvPr/>
        </p:nvSpPr>
        <p:spPr>
          <a:xfrm>
            <a:off x="685036" y="397997"/>
            <a:ext cx="10668000" cy="482600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pPr algn="l"/>
            <a:r>
              <a:rPr lang="en-US" sz="2550" b="1">
                <a:solidFill>
                  <a:srgbClr val="202C4A"/>
                </a:solidFill>
                <a:latin typeface="Aptos Display"/>
              </a:rPr>
              <a:t>Queue Throughput: The Contract Is Part of the Result</a:t>
            </a:r>
            <a:endParaRPr lang="en-US"/>
          </a:p>
        </p:txBody>
      </p:sp>
      <p:sp>
        <p:nvSpPr>
          <p:cNvPr id="7" name="Benchmark_Subtitle">
            <a:extLst>
              <a:ext uri="{FF2B5EF4-FFF2-40B4-BE49-F238E27FC236}">
                <a16:creationId xmlns:a16="http://schemas.microsoft.com/office/drawing/2014/main" id="{22E19F3C-DD19-40DC-BA74-4B4F2961A5C5}"/>
              </a:ext>
            </a:extLst>
          </p:cNvPr>
          <p:cNvSpPr txBox="1"/>
          <p:nvPr/>
        </p:nvSpPr>
        <p:spPr>
          <a:xfrm>
            <a:off x="762000" y="5598313"/>
            <a:ext cx="10668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20">
                <a:solidFill>
                  <a:srgbClr val="2F3E56"/>
                </a:solidFill>
                <a:latin typeface="Arial"/>
                <a:cs typeface="Arial"/>
              </a:rPr>
              <a:t>Median throughput + p10–p90 • independent scales • million transfers / second • higher is better</a:t>
            </a:r>
          </a:p>
        </p:txBody>
      </p:sp>
      <p:sp>
        <p:nvSpPr>
          <p:cNvPr id="10" name="SPSC_Panel">
            <a:extLst>
              <a:ext uri="{FF2B5EF4-FFF2-40B4-BE49-F238E27FC236}">
                <a16:creationId xmlns:a16="http://schemas.microsoft.com/office/drawing/2014/main" id="{C4B2FD0B-8D1F-445F-BB2D-FEA602C37319}"/>
              </a:ext>
            </a:extLst>
          </p:cNvPr>
          <p:cNvSpPr/>
          <p:nvPr/>
        </p:nvSpPr>
        <p:spPr>
          <a:xfrm>
            <a:off x="508000" y="1092200"/>
            <a:ext cx="5511800" cy="18796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6D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PSC_Title">
            <a:extLst>
              <a:ext uri="{FF2B5EF4-FFF2-40B4-BE49-F238E27FC236}">
                <a16:creationId xmlns:a16="http://schemas.microsoft.com/office/drawing/2014/main" id="{C4327F1D-12D4-41DD-8520-DB63DC914B2A}"/>
              </a:ext>
            </a:extLst>
          </p:cNvPr>
          <p:cNvSpPr txBox="1"/>
          <p:nvPr/>
        </p:nvSpPr>
        <p:spPr>
          <a:xfrm>
            <a:off x="812800" y="1243368"/>
            <a:ext cx="736600" cy="258096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202C4A"/>
                </a:solidFill>
                <a:latin typeface="Aptos"/>
              </a:rPr>
              <a:t>SPSC</a:t>
            </a:r>
          </a:p>
        </p:txBody>
      </p:sp>
      <p:sp>
        <p:nvSpPr>
          <p:cNvPr id="12" name="SPSC_Sub">
            <a:extLst>
              <a:ext uri="{FF2B5EF4-FFF2-40B4-BE49-F238E27FC236}">
                <a16:creationId xmlns:a16="http://schemas.microsoft.com/office/drawing/2014/main" id="{129A9FB4-B9E5-4F7D-ADCE-9245E9861092}"/>
              </a:ext>
            </a:extLst>
          </p:cNvPr>
          <p:cNvSpPr txBox="1"/>
          <p:nvPr/>
        </p:nvSpPr>
        <p:spPr>
          <a:xfrm>
            <a:off x="1549400" y="1243368"/>
            <a:ext cx="2794000" cy="258096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60">
                <a:solidFill>
                  <a:srgbClr val="667188"/>
                </a:solidFill>
                <a:latin typeface="Arial"/>
                <a:cs typeface="Arial"/>
              </a:rPr>
              <a:t>1 producer / 1 consumer</a:t>
            </a:r>
          </a:p>
        </p:txBody>
      </p:sp>
      <p:sp>
        <p:nvSpPr>
          <p:cNvPr id="14" name="SPMC_Panel">
            <a:extLst>
              <a:ext uri="{FF2B5EF4-FFF2-40B4-BE49-F238E27FC236}">
                <a16:creationId xmlns:a16="http://schemas.microsoft.com/office/drawing/2014/main" id="{2187CDD4-FFBB-4B8B-98F7-2D74119F04E1}"/>
              </a:ext>
            </a:extLst>
          </p:cNvPr>
          <p:cNvSpPr/>
          <p:nvPr/>
        </p:nvSpPr>
        <p:spPr>
          <a:xfrm>
            <a:off x="6172200" y="1092200"/>
            <a:ext cx="5511800" cy="18796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6D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SPMC_Title">
            <a:extLst>
              <a:ext uri="{FF2B5EF4-FFF2-40B4-BE49-F238E27FC236}">
                <a16:creationId xmlns:a16="http://schemas.microsoft.com/office/drawing/2014/main" id="{CF7C8FB0-12DE-4FBC-879B-6024C0D6F9B2}"/>
              </a:ext>
            </a:extLst>
          </p:cNvPr>
          <p:cNvSpPr txBox="1"/>
          <p:nvPr/>
        </p:nvSpPr>
        <p:spPr>
          <a:xfrm>
            <a:off x="6426200" y="1243368"/>
            <a:ext cx="736600" cy="258096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202C4A"/>
                </a:solidFill>
                <a:latin typeface="Aptos"/>
              </a:rPr>
              <a:t>SPMC</a:t>
            </a:r>
          </a:p>
        </p:txBody>
      </p:sp>
      <p:sp>
        <p:nvSpPr>
          <p:cNvPr id="16" name="SPMC_Sub">
            <a:extLst>
              <a:ext uri="{FF2B5EF4-FFF2-40B4-BE49-F238E27FC236}">
                <a16:creationId xmlns:a16="http://schemas.microsoft.com/office/drawing/2014/main" id="{0105BF99-7FA0-4A66-80AA-A20D225E83BC}"/>
              </a:ext>
            </a:extLst>
          </p:cNvPr>
          <p:cNvSpPr txBox="1"/>
          <p:nvPr/>
        </p:nvSpPr>
        <p:spPr>
          <a:xfrm>
            <a:off x="7162800" y="1243368"/>
            <a:ext cx="2794000" cy="258096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60">
                <a:solidFill>
                  <a:srgbClr val="667188"/>
                </a:solidFill>
                <a:latin typeface="Arial"/>
                <a:cs typeface="Arial"/>
              </a:rPr>
              <a:t>1 producer / 4 consumers</a:t>
            </a:r>
          </a:p>
        </p:txBody>
      </p:sp>
      <p:sp>
        <p:nvSpPr>
          <p:cNvPr id="18" name="MPSC_Panel">
            <a:extLst>
              <a:ext uri="{FF2B5EF4-FFF2-40B4-BE49-F238E27FC236}">
                <a16:creationId xmlns:a16="http://schemas.microsoft.com/office/drawing/2014/main" id="{18F86130-3DF9-41E1-A832-70D38F43D047}"/>
              </a:ext>
            </a:extLst>
          </p:cNvPr>
          <p:cNvSpPr/>
          <p:nvPr/>
        </p:nvSpPr>
        <p:spPr>
          <a:xfrm>
            <a:off x="508000" y="3002929"/>
            <a:ext cx="5511800" cy="22352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6D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MPSC_Title">
            <a:extLst>
              <a:ext uri="{FF2B5EF4-FFF2-40B4-BE49-F238E27FC236}">
                <a16:creationId xmlns:a16="http://schemas.microsoft.com/office/drawing/2014/main" id="{D1948AA0-09B9-4692-B173-7F4E2C0F24B8}"/>
              </a:ext>
            </a:extLst>
          </p:cNvPr>
          <p:cNvSpPr txBox="1"/>
          <p:nvPr/>
        </p:nvSpPr>
        <p:spPr>
          <a:xfrm>
            <a:off x="812800" y="3129280"/>
            <a:ext cx="736600" cy="27432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202C4A"/>
                </a:solidFill>
                <a:latin typeface="Aptos"/>
              </a:rPr>
              <a:t>MPSC</a:t>
            </a:r>
          </a:p>
        </p:txBody>
      </p:sp>
      <p:sp>
        <p:nvSpPr>
          <p:cNvPr id="20" name="MPSC_Sub">
            <a:extLst>
              <a:ext uri="{FF2B5EF4-FFF2-40B4-BE49-F238E27FC236}">
                <a16:creationId xmlns:a16="http://schemas.microsoft.com/office/drawing/2014/main" id="{EA34B4CC-26D6-4312-9D85-5D08767768FD}"/>
              </a:ext>
            </a:extLst>
          </p:cNvPr>
          <p:cNvSpPr txBox="1"/>
          <p:nvPr/>
        </p:nvSpPr>
        <p:spPr>
          <a:xfrm>
            <a:off x="1549400" y="3129280"/>
            <a:ext cx="2794000" cy="27432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60">
                <a:solidFill>
                  <a:srgbClr val="667188"/>
                </a:solidFill>
                <a:latin typeface="Arial"/>
                <a:cs typeface="Arial"/>
              </a:rPr>
              <a:t>4 producers / 1 consumer</a:t>
            </a:r>
          </a:p>
        </p:txBody>
      </p:sp>
      <p:sp>
        <p:nvSpPr>
          <p:cNvPr id="22" name="MPMC_Panel">
            <a:extLst>
              <a:ext uri="{FF2B5EF4-FFF2-40B4-BE49-F238E27FC236}">
                <a16:creationId xmlns:a16="http://schemas.microsoft.com/office/drawing/2014/main" id="{500230C0-4FE0-4A7B-B3F6-DA26966B83AE}"/>
              </a:ext>
            </a:extLst>
          </p:cNvPr>
          <p:cNvSpPr/>
          <p:nvPr/>
        </p:nvSpPr>
        <p:spPr>
          <a:xfrm>
            <a:off x="6172200" y="2997200"/>
            <a:ext cx="5511800" cy="2235200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D6D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MPMC_Title">
            <a:extLst>
              <a:ext uri="{FF2B5EF4-FFF2-40B4-BE49-F238E27FC236}">
                <a16:creationId xmlns:a16="http://schemas.microsoft.com/office/drawing/2014/main" id="{379979B2-6CAB-4E7B-A423-6CF5B639470E}"/>
              </a:ext>
            </a:extLst>
          </p:cNvPr>
          <p:cNvSpPr txBox="1"/>
          <p:nvPr/>
        </p:nvSpPr>
        <p:spPr>
          <a:xfrm>
            <a:off x="6426200" y="3129280"/>
            <a:ext cx="736600" cy="27432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202C4A"/>
                </a:solidFill>
                <a:latin typeface="Aptos"/>
              </a:rPr>
              <a:t>MPMC</a:t>
            </a:r>
          </a:p>
        </p:txBody>
      </p:sp>
      <p:sp>
        <p:nvSpPr>
          <p:cNvPr id="24" name="MPMC_Sub">
            <a:extLst>
              <a:ext uri="{FF2B5EF4-FFF2-40B4-BE49-F238E27FC236}">
                <a16:creationId xmlns:a16="http://schemas.microsoft.com/office/drawing/2014/main" id="{F08C1BA1-628C-4ED1-B637-7C2071EA9DD7}"/>
              </a:ext>
            </a:extLst>
          </p:cNvPr>
          <p:cNvSpPr txBox="1"/>
          <p:nvPr/>
        </p:nvSpPr>
        <p:spPr>
          <a:xfrm>
            <a:off x="7162800" y="3129280"/>
            <a:ext cx="2794000" cy="27432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60">
                <a:solidFill>
                  <a:srgbClr val="667188"/>
                </a:solidFill>
                <a:latin typeface="Arial"/>
                <a:cs typeface="Arial"/>
              </a:rPr>
              <a:t>4 producers / 4 consumers</a:t>
            </a:r>
          </a:p>
        </p:txBody>
      </p:sp>
      <p:sp>
        <p:nvSpPr>
          <p:cNvPr id="31" name="Footnote_Weak">
            <a:extLst>
              <a:ext uri="{FF2B5EF4-FFF2-40B4-BE49-F238E27FC236}">
                <a16:creationId xmlns:a16="http://schemas.microsoft.com/office/drawing/2014/main" id="{1C680C35-4E4B-46A4-9426-CE68F6E57F54}"/>
              </a:ext>
            </a:extLst>
          </p:cNvPr>
          <p:cNvSpPr txBox="1"/>
          <p:nvPr/>
        </p:nvSpPr>
        <p:spPr>
          <a:xfrm>
            <a:off x="762000" y="5774107"/>
            <a:ext cx="10668000" cy="279400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r>
              <a:rPr lang="en-US" sz="800" dirty="0">
                <a:solidFill>
                  <a:srgbClr val="4D596D"/>
                </a:solidFill>
                <a:latin typeface="Arial"/>
                <a:cs typeface="Arial"/>
              </a:rPr>
              <a:t>* Queue Discipline MPSC is strong in ordering but weak in progress. Boost weak MPSC is weak in ordering.</a:t>
            </a:r>
          </a:p>
        </p:txBody>
      </p:sp>
      <p:sp>
        <p:nvSpPr>
          <p:cNvPr id="32" name="Footnote_CAS">
            <a:extLst>
              <a:ext uri="{FF2B5EF4-FFF2-40B4-BE49-F238E27FC236}">
                <a16:creationId xmlns:a16="http://schemas.microsoft.com/office/drawing/2014/main" id="{EEBCC224-F9E5-41F9-BE5F-9AC425F88E71}"/>
              </a:ext>
            </a:extLst>
          </p:cNvPr>
          <p:cNvSpPr txBox="1"/>
          <p:nvPr/>
        </p:nvSpPr>
        <p:spPr>
          <a:xfrm>
            <a:off x="739083" y="6055990"/>
            <a:ext cx="10668000" cy="177800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ctr" anchorCtr="0">
            <a:noAutofit/>
          </a:bodyPr>
          <a:lstStyle/>
          <a:p>
            <a:pPr algn="l"/>
            <a:r>
              <a:rPr lang="en-US" sz="800" dirty="0">
                <a:solidFill>
                  <a:srgbClr val="4D596D"/>
                </a:solidFill>
                <a:latin typeface="Arial"/>
                <a:cs typeface="Arial"/>
              </a:rPr>
              <a:t>† Native 128-bit CAS combines slot claim + publication and is designed to avoid the reservation gap.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D48CAA-5E79-4265-9441-216A6600ACF1}"/>
              </a:ext>
            </a:extLst>
          </p:cNvPr>
          <p:cNvSpPr/>
          <p:nvPr/>
        </p:nvSpPr>
        <p:spPr>
          <a:xfrm>
            <a:off x="2374900" y="1587500"/>
            <a:ext cx="8890" cy="1190112"/>
          </a:xfrm>
          <a:prstGeom prst="rect">
            <a:avLst/>
          </a:prstGeom>
          <a:solidFill>
            <a:srgbClr val="CDD4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598D76-CAB5-4EB3-88CA-B345B6B07857}"/>
              </a:ext>
            </a:extLst>
          </p:cNvPr>
          <p:cNvSpPr txBox="1"/>
          <p:nvPr/>
        </p:nvSpPr>
        <p:spPr>
          <a:xfrm>
            <a:off x="812800" y="1673531"/>
            <a:ext cx="1600200" cy="243758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1769AA"/>
                </a:solidFill>
                <a:latin typeface="Arial"/>
                <a:cs typeface="Arial"/>
              </a:rPr>
              <a:t>Queue Discipline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F40670-A7B2-4AA7-9630-16A7F48F75D4}"/>
              </a:ext>
            </a:extLst>
          </p:cNvPr>
          <p:cNvSpPr/>
          <p:nvPr/>
        </p:nvSpPr>
        <p:spPr>
          <a:xfrm>
            <a:off x="2387600" y="1730887"/>
            <a:ext cx="2569362" cy="157725"/>
          </a:xfrm>
          <a:prstGeom prst="rect">
            <a:avLst/>
          </a:prstGeom>
          <a:solidFill>
            <a:srgbClr val="1769AA"/>
          </a:solidFill>
          <a:ln w="15240" cap="flat" cmpd="sng" algn="ctr">
            <a:solidFill>
              <a:srgbClr val="183B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229.9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E49A2D-B294-4E84-A8A3-3A559907D101}"/>
              </a:ext>
            </a:extLst>
          </p:cNvPr>
          <p:cNvSpPr/>
          <p:nvPr/>
        </p:nvSpPr>
        <p:spPr>
          <a:xfrm>
            <a:off x="4895606" y="1687869"/>
            <a:ext cx="101701" cy="12904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3739F1-4713-4DFC-AC54-FBAB53ED93F3}"/>
              </a:ext>
            </a:extLst>
          </p:cNvPr>
          <p:cNvSpPr/>
          <p:nvPr/>
        </p:nvSpPr>
        <p:spPr>
          <a:xfrm>
            <a:off x="4895606" y="1652024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4681729-9F9F-4BB4-9E45-C72D7300DF68}"/>
              </a:ext>
            </a:extLst>
          </p:cNvPr>
          <p:cNvSpPr/>
          <p:nvPr/>
        </p:nvSpPr>
        <p:spPr>
          <a:xfrm>
            <a:off x="4997307" y="1652024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F30B72-EC98-4373-8930-D97780FC8AB1}"/>
              </a:ext>
            </a:extLst>
          </p:cNvPr>
          <p:cNvSpPr txBox="1"/>
          <p:nvPr/>
        </p:nvSpPr>
        <p:spPr>
          <a:xfrm>
            <a:off x="812800" y="2032000"/>
            <a:ext cx="1600200" cy="243758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40">
                <a:solidFill>
                  <a:srgbClr val="2D7D78"/>
                </a:solidFill>
                <a:latin typeface="Arial"/>
                <a:cs typeface="Arial"/>
              </a:rPr>
              <a:t>Boost SPSC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2A6A551-4B62-4ECF-BEC0-37D0CD33CE67}"/>
              </a:ext>
            </a:extLst>
          </p:cNvPr>
          <p:cNvSpPr/>
          <p:nvPr/>
        </p:nvSpPr>
        <p:spPr>
          <a:xfrm>
            <a:off x="2387600" y="2089354"/>
            <a:ext cx="2228829" cy="157725"/>
          </a:xfrm>
          <a:prstGeom prst="rect">
            <a:avLst/>
          </a:prstGeom>
          <a:solidFill>
            <a:srgbClr val="2D7D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199.4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0D07A4-03FB-4A0A-A3B5-7D34617B7706}"/>
              </a:ext>
            </a:extLst>
          </p:cNvPr>
          <p:cNvSpPr/>
          <p:nvPr/>
        </p:nvSpPr>
        <p:spPr>
          <a:xfrm>
            <a:off x="4305625" y="2046338"/>
            <a:ext cx="343885" cy="12904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C65458-B903-45E0-9B32-BCA8B4BBCDA2}"/>
              </a:ext>
            </a:extLst>
          </p:cNvPr>
          <p:cNvSpPr/>
          <p:nvPr/>
        </p:nvSpPr>
        <p:spPr>
          <a:xfrm>
            <a:off x="4305625" y="2010491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B6BFC4-34B6-4658-B517-EBEB3462F503}"/>
              </a:ext>
            </a:extLst>
          </p:cNvPr>
          <p:cNvSpPr/>
          <p:nvPr/>
        </p:nvSpPr>
        <p:spPr>
          <a:xfrm>
            <a:off x="4649510" y="2010491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C0F23D-89A5-468C-B21A-623BE2866581}"/>
              </a:ext>
            </a:extLst>
          </p:cNvPr>
          <p:cNvSpPr txBox="1"/>
          <p:nvPr/>
        </p:nvSpPr>
        <p:spPr>
          <a:xfrm>
            <a:off x="812800" y="2390466"/>
            <a:ext cx="1600200" cy="243758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40">
                <a:solidFill>
                  <a:srgbClr val="E8752B"/>
                </a:solidFill>
                <a:latin typeface="Arial"/>
                <a:cs typeface="Arial"/>
              </a:rPr>
              <a:t>Moodycamel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0D38AF-57C0-4C59-B9B9-F3ACEF28BC81}"/>
              </a:ext>
            </a:extLst>
          </p:cNvPr>
          <p:cNvSpPr/>
          <p:nvPr/>
        </p:nvSpPr>
        <p:spPr>
          <a:xfrm>
            <a:off x="2387600" y="2447822"/>
            <a:ext cx="1660977" cy="157725"/>
          </a:xfrm>
          <a:prstGeom prst="rect">
            <a:avLst/>
          </a:prstGeom>
          <a:solidFill>
            <a:srgbClr val="E875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148.6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C4CEB2A-D26B-475D-B87E-5476016A6A7E}"/>
              </a:ext>
            </a:extLst>
          </p:cNvPr>
          <p:cNvSpPr/>
          <p:nvPr/>
        </p:nvSpPr>
        <p:spPr>
          <a:xfrm>
            <a:off x="3947099" y="2404805"/>
            <a:ext cx="753374" cy="12904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10EE3F-B0F9-4FA8-AFF8-B59988813ABB}"/>
              </a:ext>
            </a:extLst>
          </p:cNvPr>
          <p:cNvSpPr/>
          <p:nvPr/>
        </p:nvSpPr>
        <p:spPr>
          <a:xfrm>
            <a:off x="3947099" y="2368958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5D74054-7CB6-4516-A384-76EFEC21434E}"/>
              </a:ext>
            </a:extLst>
          </p:cNvPr>
          <p:cNvSpPr/>
          <p:nvPr/>
        </p:nvSpPr>
        <p:spPr>
          <a:xfrm>
            <a:off x="4700473" y="2368958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2553B5-8045-40B8-AE24-A48D149033BA}"/>
              </a:ext>
            </a:extLst>
          </p:cNvPr>
          <p:cNvSpPr/>
          <p:nvPr/>
        </p:nvSpPr>
        <p:spPr>
          <a:xfrm>
            <a:off x="7988300" y="1587500"/>
            <a:ext cx="8890" cy="1190112"/>
          </a:xfrm>
          <a:prstGeom prst="rect">
            <a:avLst/>
          </a:prstGeom>
          <a:solidFill>
            <a:srgbClr val="CDD4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06D534-A335-4127-93CA-21815BB3264F}"/>
              </a:ext>
            </a:extLst>
          </p:cNvPr>
          <p:cNvSpPr txBox="1"/>
          <p:nvPr/>
        </p:nvSpPr>
        <p:spPr>
          <a:xfrm>
            <a:off x="6426200" y="1816918"/>
            <a:ext cx="1600200" cy="243758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1769AA"/>
                </a:solidFill>
                <a:latin typeface="Arial"/>
                <a:cs typeface="Arial"/>
              </a:rPr>
              <a:t>Queue Discipline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227DF59-ED49-478D-A979-23B0246A9929}"/>
              </a:ext>
            </a:extLst>
          </p:cNvPr>
          <p:cNvSpPr/>
          <p:nvPr/>
        </p:nvSpPr>
        <p:spPr>
          <a:xfrm>
            <a:off x="8001000" y="1874274"/>
            <a:ext cx="2621889" cy="157725"/>
          </a:xfrm>
          <a:prstGeom prst="rect">
            <a:avLst/>
          </a:prstGeom>
          <a:solidFill>
            <a:srgbClr val="1769AA"/>
          </a:solidFill>
          <a:ln w="15240" cap="flat" cmpd="sng" algn="ctr">
            <a:solidFill>
              <a:srgbClr val="183B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46.9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1B9FEF-5EA1-4496-B4D7-A9D79B4D80CF}"/>
              </a:ext>
            </a:extLst>
          </p:cNvPr>
          <p:cNvSpPr/>
          <p:nvPr/>
        </p:nvSpPr>
        <p:spPr>
          <a:xfrm>
            <a:off x="10557510" y="1831258"/>
            <a:ext cx="80467" cy="12904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FB20689-2F15-46D6-8E62-C0D36226E420}"/>
              </a:ext>
            </a:extLst>
          </p:cNvPr>
          <p:cNvSpPr/>
          <p:nvPr/>
        </p:nvSpPr>
        <p:spPr>
          <a:xfrm>
            <a:off x="10557510" y="1795411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BDB67AB-B28F-4B3A-82A2-ED8B4C91B3B8}"/>
              </a:ext>
            </a:extLst>
          </p:cNvPr>
          <p:cNvSpPr/>
          <p:nvPr/>
        </p:nvSpPr>
        <p:spPr>
          <a:xfrm>
            <a:off x="10637977" y="1795411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F91022-73EA-48B6-B184-D500631641AD}"/>
              </a:ext>
            </a:extLst>
          </p:cNvPr>
          <p:cNvSpPr txBox="1"/>
          <p:nvPr/>
        </p:nvSpPr>
        <p:spPr>
          <a:xfrm>
            <a:off x="6426200" y="2304435"/>
            <a:ext cx="1600200" cy="243758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40">
                <a:solidFill>
                  <a:srgbClr val="2D7D78"/>
                </a:solidFill>
                <a:latin typeface="Arial"/>
                <a:cs typeface="Arial"/>
              </a:rPr>
              <a:t>Boost SP ticket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8533E1-4616-45B3-B670-E6A08C8E1AAF}"/>
              </a:ext>
            </a:extLst>
          </p:cNvPr>
          <p:cNvSpPr/>
          <p:nvPr/>
        </p:nvSpPr>
        <p:spPr>
          <a:xfrm>
            <a:off x="8001000" y="2361789"/>
            <a:ext cx="1067866" cy="157725"/>
          </a:xfrm>
          <a:prstGeom prst="rect">
            <a:avLst/>
          </a:prstGeom>
          <a:solidFill>
            <a:srgbClr val="2D7D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19.1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442247-0311-4AF1-A00F-C9A36B7E641F}"/>
              </a:ext>
            </a:extLst>
          </p:cNvPr>
          <p:cNvSpPr/>
          <p:nvPr/>
        </p:nvSpPr>
        <p:spPr>
          <a:xfrm>
            <a:off x="9064955" y="2318774"/>
            <a:ext cx="7264" cy="12904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9305165-A80D-48BF-A3F0-F0F26CF33E8E}"/>
              </a:ext>
            </a:extLst>
          </p:cNvPr>
          <p:cNvSpPr/>
          <p:nvPr/>
        </p:nvSpPr>
        <p:spPr>
          <a:xfrm>
            <a:off x="9064955" y="2282927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A0F9328-2A57-41EE-B795-89B27DB4FDD9}"/>
              </a:ext>
            </a:extLst>
          </p:cNvPr>
          <p:cNvSpPr/>
          <p:nvPr/>
        </p:nvSpPr>
        <p:spPr>
          <a:xfrm>
            <a:off x="9072219" y="2282927"/>
            <a:ext cx="11430" cy="8603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A88AB30-657D-4EE1-BF6E-1FE4854827E2}"/>
              </a:ext>
            </a:extLst>
          </p:cNvPr>
          <p:cNvSpPr/>
          <p:nvPr/>
        </p:nvSpPr>
        <p:spPr>
          <a:xfrm>
            <a:off x="2374900" y="3495040"/>
            <a:ext cx="8890" cy="1386840"/>
          </a:xfrm>
          <a:prstGeom prst="rect">
            <a:avLst/>
          </a:prstGeom>
          <a:solidFill>
            <a:srgbClr val="CDD4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935EE9-BBB5-403F-963A-4D7F9A8B346E}"/>
              </a:ext>
            </a:extLst>
          </p:cNvPr>
          <p:cNvSpPr txBox="1"/>
          <p:nvPr/>
        </p:nvSpPr>
        <p:spPr>
          <a:xfrm>
            <a:off x="812800" y="3556000"/>
            <a:ext cx="1600200" cy="259079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1769AA"/>
                </a:solidFill>
                <a:latin typeface="Arial"/>
                <a:cs typeface="Arial"/>
              </a:rPr>
              <a:t>Queue Discipline weak*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FE87387-83D0-4DB5-BEE8-523D89F4F2CE}"/>
              </a:ext>
            </a:extLst>
          </p:cNvPr>
          <p:cNvSpPr/>
          <p:nvPr/>
        </p:nvSpPr>
        <p:spPr>
          <a:xfrm>
            <a:off x="2387600" y="3616960"/>
            <a:ext cx="1974135" cy="167640"/>
          </a:xfrm>
          <a:prstGeom prst="rect">
            <a:avLst/>
          </a:prstGeom>
          <a:solidFill>
            <a:srgbClr val="1769AA"/>
          </a:solidFill>
          <a:ln w="15240" cap="flat" cmpd="sng" algn="ctr">
            <a:solidFill>
              <a:srgbClr val="183B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22.6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6036F05-EF18-49DE-83BD-F445FF544841}"/>
              </a:ext>
            </a:extLst>
          </p:cNvPr>
          <p:cNvSpPr/>
          <p:nvPr/>
        </p:nvSpPr>
        <p:spPr>
          <a:xfrm>
            <a:off x="3787219" y="3571240"/>
            <a:ext cx="1202293" cy="13716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BC762C4-AEA2-4C40-89A2-CEDF8A5654D5}"/>
              </a:ext>
            </a:extLst>
          </p:cNvPr>
          <p:cNvSpPr/>
          <p:nvPr/>
        </p:nvSpPr>
        <p:spPr>
          <a:xfrm>
            <a:off x="3787219" y="3533140"/>
            <a:ext cx="11430" cy="91439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2190DB6-2ED5-4064-BEBB-9CFB8BC00620}"/>
              </a:ext>
            </a:extLst>
          </p:cNvPr>
          <p:cNvSpPr/>
          <p:nvPr/>
        </p:nvSpPr>
        <p:spPr>
          <a:xfrm>
            <a:off x="4989512" y="3533140"/>
            <a:ext cx="11430" cy="91439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F5FC26B-E420-4E11-8B5C-7CD28DC31463}"/>
              </a:ext>
            </a:extLst>
          </p:cNvPr>
          <p:cNvSpPr txBox="1"/>
          <p:nvPr/>
        </p:nvSpPr>
        <p:spPr>
          <a:xfrm>
            <a:off x="812800" y="3937000"/>
            <a:ext cx="1600200" cy="259079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10">
                <a:solidFill>
                  <a:srgbClr val="2D7D78"/>
                </a:solidFill>
                <a:latin typeface="Arial"/>
                <a:cs typeface="Arial"/>
              </a:rPr>
              <a:t>Boost SC ticket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8624A7F-204F-41AC-B7B7-126C2A4E5D6E}"/>
              </a:ext>
            </a:extLst>
          </p:cNvPr>
          <p:cNvSpPr/>
          <p:nvPr/>
        </p:nvSpPr>
        <p:spPr>
          <a:xfrm>
            <a:off x="2387600" y="3997960"/>
            <a:ext cx="1830070" cy="167640"/>
          </a:xfrm>
          <a:prstGeom prst="rect">
            <a:avLst/>
          </a:prstGeom>
          <a:solidFill>
            <a:srgbClr val="2D7D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21.0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01CABC6-5223-43B6-B147-7B1B3973F8D7}"/>
              </a:ext>
            </a:extLst>
          </p:cNvPr>
          <p:cNvSpPr/>
          <p:nvPr/>
        </p:nvSpPr>
        <p:spPr>
          <a:xfrm>
            <a:off x="4203700" y="3952240"/>
            <a:ext cx="24447" cy="13716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C9B845-6128-4B0B-AAFA-CD3E13CE6A37}"/>
              </a:ext>
            </a:extLst>
          </p:cNvPr>
          <p:cNvSpPr/>
          <p:nvPr/>
        </p:nvSpPr>
        <p:spPr>
          <a:xfrm>
            <a:off x="4203700" y="3914140"/>
            <a:ext cx="11430" cy="91439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E7485BB-F40B-484B-A3B6-C88B36FA45B6}"/>
              </a:ext>
            </a:extLst>
          </p:cNvPr>
          <p:cNvSpPr/>
          <p:nvPr/>
        </p:nvSpPr>
        <p:spPr>
          <a:xfrm>
            <a:off x="4228147" y="3914140"/>
            <a:ext cx="11430" cy="91439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5D32BDA-611E-41DB-887E-AED0837B431A}"/>
              </a:ext>
            </a:extLst>
          </p:cNvPr>
          <p:cNvSpPr txBox="1"/>
          <p:nvPr/>
        </p:nvSpPr>
        <p:spPr>
          <a:xfrm>
            <a:off x="812800" y="4318000"/>
            <a:ext cx="1600200" cy="259079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810">
                <a:solidFill>
                  <a:srgbClr val="2D7D78"/>
                </a:solidFill>
                <a:latin typeface="Arial"/>
                <a:cs typeface="Arial"/>
              </a:rPr>
              <a:t>Boost weak / pool*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B6E75C8-AE3D-466F-B7E4-6697B5754840}"/>
              </a:ext>
            </a:extLst>
          </p:cNvPr>
          <p:cNvSpPr/>
          <p:nvPr/>
        </p:nvSpPr>
        <p:spPr>
          <a:xfrm>
            <a:off x="2387600" y="4378960"/>
            <a:ext cx="774461" cy="167640"/>
          </a:xfrm>
          <a:prstGeom prst="rect">
            <a:avLst/>
          </a:prstGeom>
          <a:solidFill>
            <a:srgbClr val="2D7D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" b="1">
                <a:solidFill>
                  <a:srgbClr val="FFFFFF"/>
                </a:solidFill>
                <a:latin typeface="Arial"/>
                <a:cs typeface="Arial"/>
              </a:rPr>
              <a:t>8.9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7F62FFA-ACDE-4F28-BCBF-338314FB76BC}"/>
              </a:ext>
            </a:extLst>
          </p:cNvPr>
          <p:cNvSpPr/>
          <p:nvPr/>
        </p:nvSpPr>
        <p:spPr>
          <a:xfrm>
            <a:off x="3158569" y="4333240"/>
            <a:ext cx="8731" cy="13716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D9D5A8F-FFC6-4D86-9A38-EA6CB7B0043B}"/>
              </a:ext>
            </a:extLst>
          </p:cNvPr>
          <p:cNvSpPr/>
          <p:nvPr/>
        </p:nvSpPr>
        <p:spPr>
          <a:xfrm>
            <a:off x="3158569" y="4295140"/>
            <a:ext cx="11430" cy="91439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C134C90-5633-484C-8833-D5AE8B559D09}"/>
              </a:ext>
            </a:extLst>
          </p:cNvPr>
          <p:cNvSpPr/>
          <p:nvPr/>
        </p:nvSpPr>
        <p:spPr>
          <a:xfrm>
            <a:off x="3167300" y="4295140"/>
            <a:ext cx="11430" cy="91439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BBC0A7-3BB0-4888-80DD-E24BC883B653}"/>
              </a:ext>
            </a:extLst>
          </p:cNvPr>
          <p:cNvSpPr/>
          <p:nvPr/>
        </p:nvSpPr>
        <p:spPr>
          <a:xfrm>
            <a:off x="7988300" y="3464560"/>
            <a:ext cx="8890" cy="1005840"/>
          </a:xfrm>
          <a:prstGeom prst="rect">
            <a:avLst/>
          </a:prstGeom>
          <a:solidFill>
            <a:srgbClr val="CDD4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0DBEC-471A-451A-8579-30F14212C7DA}"/>
              </a:ext>
            </a:extLst>
          </p:cNvPr>
          <p:cNvSpPr txBox="1"/>
          <p:nvPr/>
        </p:nvSpPr>
        <p:spPr>
          <a:xfrm>
            <a:off x="6426200" y="3479800"/>
            <a:ext cx="1600200" cy="24384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740" b="1">
                <a:solidFill>
                  <a:srgbClr val="1769AA"/>
                </a:solidFill>
                <a:latin typeface="Arial"/>
                <a:cs typeface="Arial"/>
              </a:rPr>
              <a:t>Queue Discipline CAS†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3AB6F85-1FDB-4F02-BC2C-F37B178F55A2}"/>
              </a:ext>
            </a:extLst>
          </p:cNvPr>
          <p:cNvSpPr/>
          <p:nvPr/>
        </p:nvSpPr>
        <p:spPr>
          <a:xfrm>
            <a:off x="8001000" y="3540760"/>
            <a:ext cx="909214" cy="152400"/>
          </a:xfrm>
          <a:prstGeom prst="rect">
            <a:avLst/>
          </a:prstGeom>
          <a:solidFill>
            <a:srgbClr val="1769AA"/>
          </a:solidFill>
          <a:ln w="15240" cap="flat" cmpd="sng" algn="ctr">
            <a:solidFill>
              <a:srgbClr val="183B6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Arial"/>
                <a:cs typeface="Arial"/>
              </a:rPr>
              <a:t>7.8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59C8843-1417-4AEA-825A-1938E53718B2}"/>
              </a:ext>
            </a:extLst>
          </p:cNvPr>
          <p:cNvSpPr/>
          <p:nvPr/>
        </p:nvSpPr>
        <p:spPr>
          <a:xfrm>
            <a:off x="8899736" y="3495040"/>
            <a:ext cx="27940" cy="1219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AFFDAC4-3D9F-4F1D-9B8E-0F3178463147}"/>
              </a:ext>
            </a:extLst>
          </p:cNvPr>
          <p:cNvSpPr/>
          <p:nvPr/>
        </p:nvSpPr>
        <p:spPr>
          <a:xfrm>
            <a:off x="8899736" y="3464560"/>
            <a:ext cx="10160" cy="762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2CAA183-0F9D-4A77-9027-DEAC83E60B76}"/>
              </a:ext>
            </a:extLst>
          </p:cNvPr>
          <p:cNvSpPr/>
          <p:nvPr/>
        </p:nvSpPr>
        <p:spPr>
          <a:xfrm>
            <a:off x="8927676" y="3464560"/>
            <a:ext cx="10160" cy="762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A7462D-B9BC-4756-873C-4755F7B4E275}"/>
              </a:ext>
            </a:extLst>
          </p:cNvPr>
          <p:cNvSpPr txBox="1"/>
          <p:nvPr/>
        </p:nvSpPr>
        <p:spPr>
          <a:xfrm>
            <a:off x="6426200" y="3799840"/>
            <a:ext cx="1600200" cy="24384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780">
                <a:solidFill>
                  <a:srgbClr val="2D7D78"/>
                </a:solidFill>
                <a:latin typeface="Arial"/>
                <a:cs typeface="Arial"/>
              </a:rPr>
              <a:t>Boost ticket‡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25C95A7-873F-4366-BD3D-2D688510594F}"/>
              </a:ext>
            </a:extLst>
          </p:cNvPr>
          <p:cNvSpPr/>
          <p:nvPr/>
        </p:nvSpPr>
        <p:spPr>
          <a:xfrm>
            <a:off x="8001000" y="3860800"/>
            <a:ext cx="2221229" cy="152400"/>
          </a:xfrm>
          <a:prstGeom prst="rect">
            <a:avLst/>
          </a:prstGeom>
          <a:solidFill>
            <a:srgbClr val="2D7D7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Arial"/>
                <a:cs typeface="Arial"/>
              </a:rPr>
              <a:t>19.1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6F9A117-C574-426F-8B31-64EEC0B2E8B9}"/>
              </a:ext>
            </a:extLst>
          </p:cNvPr>
          <p:cNvSpPr/>
          <p:nvPr/>
        </p:nvSpPr>
        <p:spPr>
          <a:xfrm>
            <a:off x="10218737" y="3815079"/>
            <a:ext cx="16298" cy="1219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8861BE5-A098-4D21-87DA-0645BB8EF92C}"/>
              </a:ext>
            </a:extLst>
          </p:cNvPr>
          <p:cNvSpPr/>
          <p:nvPr/>
        </p:nvSpPr>
        <p:spPr>
          <a:xfrm>
            <a:off x="10218737" y="3784600"/>
            <a:ext cx="10160" cy="762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7E27F79-7134-4E66-805B-0AC106ABA24A}"/>
              </a:ext>
            </a:extLst>
          </p:cNvPr>
          <p:cNvSpPr/>
          <p:nvPr/>
        </p:nvSpPr>
        <p:spPr>
          <a:xfrm>
            <a:off x="10235035" y="3784600"/>
            <a:ext cx="10160" cy="762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9BF5FD-A9EB-40E9-84E7-980719499DE1}"/>
              </a:ext>
            </a:extLst>
          </p:cNvPr>
          <p:cNvSpPr txBox="1"/>
          <p:nvPr/>
        </p:nvSpPr>
        <p:spPr>
          <a:xfrm>
            <a:off x="6426200" y="4119879"/>
            <a:ext cx="1600200" cy="24384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780">
                <a:solidFill>
                  <a:srgbClr val="7652A6"/>
                </a:solidFill>
                <a:latin typeface="Arial"/>
                <a:cs typeface="Arial"/>
              </a:rPr>
              <a:t>Rigtorp ticket‡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0AB54E0-8A90-41E4-B8A3-757C299A02E1}"/>
              </a:ext>
            </a:extLst>
          </p:cNvPr>
          <p:cNvSpPr/>
          <p:nvPr/>
        </p:nvSpPr>
        <p:spPr>
          <a:xfrm>
            <a:off x="8001000" y="4180840"/>
            <a:ext cx="2528570" cy="152400"/>
          </a:xfrm>
          <a:prstGeom prst="rect">
            <a:avLst/>
          </a:prstGeom>
          <a:solidFill>
            <a:srgbClr val="7652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FFFFFF"/>
                </a:solidFill>
                <a:latin typeface="Arial"/>
                <a:cs typeface="Arial"/>
              </a:rPr>
              <a:t>21.7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E93EF7E-9632-4C82-9EA1-DDAC189F7C0B}"/>
              </a:ext>
            </a:extLst>
          </p:cNvPr>
          <p:cNvSpPr/>
          <p:nvPr/>
        </p:nvSpPr>
        <p:spPr>
          <a:xfrm>
            <a:off x="10523749" y="4135120"/>
            <a:ext cx="19790" cy="12192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4BB91DA-B49C-41BD-A74B-8306C0C355E4}"/>
              </a:ext>
            </a:extLst>
          </p:cNvPr>
          <p:cNvSpPr/>
          <p:nvPr/>
        </p:nvSpPr>
        <p:spPr>
          <a:xfrm>
            <a:off x="10523749" y="4104640"/>
            <a:ext cx="10160" cy="762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51F7FF4-06B9-41CB-ADF5-C173DDB7411C}"/>
              </a:ext>
            </a:extLst>
          </p:cNvPr>
          <p:cNvSpPr/>
          <p:nvPr/>
        </p:nvSpPr>
        <p:spPr>
          <a:xfrm>
            <a:off x="10543540" y="4104640"/>
            <a:ext cx="10160" cy="76200"/>
          </a:xfrm>
          <a:prstGeom prst="rect">
            <a:avLst/>
          </a:prstGeom>
          <a:solidFill>
            <a:srgbClr val="202C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25FB581-23C0-46C1-9009-9BACF72AEC0A}"/>
              </a:ext>
            </a:extLst>
          </p:cNvPr>
          <p:cNvSpPr/>
          <p:nvPr/>
        </p:nvSpPr>
        <p:spPr>
          <a:xfrm>
            <a:off x="6400800" y="4516120"/>
            <a:ext cx="5003800" cy="15240"/>
          </a:xfrm>
          <a:prstGeom prst="rect">
            <a:avLst/>
          </a:prstGeom>
          <a:solidFill>
            <a:srgbClr val="D9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F6FAC27-3B05-4B63-95E2-DF32AFEB6923}"/>
              </a:ext>
            </a:extLst>
          </p:cNvPr>
          <p:cNvSpPr txBox="1"/>
          <p:nvPr/>
        </p:nvSpPr>
        <p:spPr>
          <a:xfrm>
            <a:off x="6426200" y="4546600"/>
            <a:ext cx="11430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740" b="1">
                <a:solidFill>
                  <a:srgbClr val="5B667A"/>
                </a:solidFill>
                <a:latin typeface="Arial"/>
                <a:cs typeface="Arial"/>
              </a:rPr>
              <a:t>Progress trade-off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4F27B49-94EB-43B6-8F3F-66DD58DE1650}"/>
              </a:ext>
            </a:extLst>
          </p:cNvPr>
          <p:cNvSpPr txBox="1"/>
          <p:nvPr/>
        </p:nvSpPr>
        <p:spPr>
          <a:xfrm>
            <a:off x="7620000" y="4546600"/>
            <a:ext cx="1066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680" b="1">
                <a:solidFill>
                  <a:srgbClr val="1769AA"/>
                </a:solidFill>
                <a:latin typeface="Arial"/>
                <a:cs typeface="Arial"/>
              </a:rPr>
              <a:t>Queue Discipline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9440DA95-6331-4216-A307-B4F46BFF6404}"/>
              </a:ext>
            </a:extLst>
          </p:cNvPr>
          <p:cNvSpPr/>
          <p:nvPr/>
        </p:nvSpPr>
        <p:spPr>
          <a:xfrm>
            <a:off x="8712200" y="4518660"/>
            <a:ext cx="1473200" cy="215900"/>
          </a:xfrm>
          <a:prstGeom prst="roundRect">
            <a:avLst/>
          </a:prstGeom>
          <a:solidFill>
            <a:srgbClr val="EAF3FB"/>
          </a:solidFill>
          <a:ln w="8890" cap="flat" cmpd="sng" algn="ctr">
            <a:solidFill>
              <a:srgbClr val="1769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10" b="1">
                <a:solidFill>
                  <a:srgbClr val="1769AA"/>
                </a:solidFill>
                <a:latin typeface="Arial"/>
                <a:cs typeface="Arial"/>
              </a:rPr>
              <a:t>claim + publish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8E6039A-46D4-48F5-BB8D-1E61F7CDE980}"/>
              </a:ext>
            </a:extLst>
          </p:cNvPr>
          <p:cNvSpPr txBox="1"/>
          <p:nvPr/>
        </p:nvSpPr>
        <p:spPr>
          <a:xfrm>
            <a:off x="7620000" y="4813300"/>
            <a:ext cx="812800" cy="177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710" b="1">
                <a:solidFill>
                  <a:srgbClr val="7652A6"/>
                </a:solidFill>
                <a:latin typeface="Arial"/>
                <a:cs typeface="Arial"/>
              </a:rPr>
              <a:t>Ticket queues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027F7-51D9-4ED6-992F-6451E635F927}"/>
              </a:ext>
            </a:extLst>
          </p:cNvPr>
          <p:cNvSpPr txBox="1"/>
          <p:nvPr/>
        </p:nvSpPr>
        <p:spPr>
          <a:xfrm>
            <a:off x="4445000" y="1257300"/>
            <a:ext cx="12954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667188"/>
                </a:solidFill>
                <a:latin typeface="Arial"/>
                <a:cs typeface="Arial"/>
              </a:rPr>
              <a:t>scale 0–250 M/s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5A1BD-7D0A-4355-A7BE-A3AD1CBD7B7E}"/>
              </a:ext>
            </a:extLst>
          </p:cNvPr>
          <p:cNvSpPr txBox="1"/>
          <p:nvPr/>
        </p:nvSpPr>
        <p:spPr>
          <a:xfrm>
            <a:off x="10058400" y="1257300"/>
            <a:ext cx="12954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667188"/>
                </a:solidFill>
                <a:latin typeface="Arial"/>
                <a:cs typeface="Arial"/>
              </a:rPr>
              <a:t>scale 0–50 M/s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41E860-AA91-453C-8621-86EB514C2067}"/>
              </a:ext>
            </a:extLst>
          </p:cNvPr>
          <p:cNvSpPr txBox="1"/>
          <p:nvPr/>
        </p:nvSpPr>
        <p:spPr>
          <a:xfrm>
            <a:off x="4445000" y="3136900"/>
            <a:ext cx="12954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667188"/>
                </a:solidFill>
                <a:latin typeface="Arial"/>
                <a:cs typeface="Arial"/>
              </a:rPr>
              <a:t>scale 0–35 M/s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23C6E6-9F33-4909-8D66-96521F53B0B8}"/>
              </a:ext>
            </a:extLst>
          </p:cNvPr>
          <p:cNvSpPr txBox="1"/>
          <p:nvPr/>
        </p:nvSpPr>
        <p:spPr>
          <a:xfrm>
            <a:off x="10058400" y="3136900"/>
            <a:ext cx="129540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667188"/>
                </a:solidFill>
                <a:latin typeface="Arial"/>
                <a:cs typeface="Arial"/>
              </a:rPr>
              <a:t>scale 0–25 M/s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5B58BB-5513-463F-AB3D-BEA60615208B}"/>
              </a:ext>
            </a:extLst>
          </p:cNvPr>
          <p:cNvSpPr/>
          <p:nvPr/>
        </p:nvSpPr>
        <p:spPr>
          <a:xfrm>
            <a:off x="4445000" y="3327400"/>
            <a:ext cx="1244600" cy="177800"/>
          </a:xfrm>
          <a:prstGeom prst="roundRect">
            <a:avLst/>
          </a:prstGeom>
          <a:noFill/>
          <a:ln w="889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A76500"/>
                </a:solidFill>
                <a:latin typeface="Arial"/>
                <a:cs typeface="Arial"/>
              </a:rPr>
              <a:t>non-stationary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3D39B5C-E3BD-47B2-A576-BCA850F8560E}"/>
              </a:ext>
            </a:extLst>
          </p:cNvPr>
          <p:cNvSpPr/>
          <p:nvPr/>
        </p:nvSpPr>
        <p:spPr>
          <a:xfrm>
            <a:off x="8432800" y="4775200"/>
            <a:ext cx="609600" cy="215900"/>
          </a:xfrm>
          <a:prstGeom prst="roundRect">
            <a:avLst/>
          </a:prstGeom>
          <a:solidFill>
            <a:srgbClr val="F7F3FC"/>
          </a:solidFill>
          <a:ln w="8890" cap="flat" cmpd="sng" algn="ctr">
            <a:solidFill>
              <a:srgbClr val="7652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7652A6"/>
                </a:solidFill>
                <a:latin typeface="Arial"/>
                <a:cs typeface="Arial"/>
              </a:rPr>
              <a:t>reserve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EE4E01-BDEE-49DF-8965-279131680F62}"/>
              </a:ext>
            </a:extLst>
          </p:cNvPr>
          <p:cNvSpPr txBox="1"/>
          <p:nvPr/>
        </p:nvSpPr>
        <p:spPr>
          <a:xfrm>
            <a:off x="9067800" y="4787900"/>
            <a:ext cx="16256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20" b="1">
                <a:solidFill>
                  <a:srgbClr val="7652A6"/>
                </a:solidFill>
                <a:latin typeface="Arial"/>
                <a:cs typeface="Arial"/>
              </a:rPr>
              <a:t>── preemption window ──▶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77FE3E-5624-4508-8AE4-6AF69DEB6F7E}"/>
              </a:ext>
            </a:extLst>
          </p:cNvPr>
          <p:cNvSpPr/>
          <p:nvPr/>
        </p:nvSpPr>
        <p:spPr>
          <a:xfrm>
            <a:off x="10718800" y="4775200"/>
            <a:ext cx="609600" cy="215900"/>
          </a:xfrm>
          <a:prstGeom prst="roundRect">
            <a:avLst/>
          </a:prstGeom>
          <a:solidFill>
            <a:srgbClr val="F7F3FC"/>
          </a:solidFill>
          <a:ln w="8890" cap="flat" cmpd="sng" algn="ctr">
            <a:solidFill>
              <a:srgbClr val="7652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00" b="1">
                <a:solidFill>
                  <a:srgbClr val="7652A6"/>
                </a:solidFill>
                <a:latin typeface="Arial"/>
                <a:cs typeface="Arial"/>
              </a:rPr>
              <a:t>publish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D69DE8-1E23-47A5-AD72-2ABDB053F7C2}"/>
              </a:ext>
            </a:extLst>
          </p:cNvPr>
          <p:cNvSpPr txBox="1"/>
          <p:nvPr/>
        </p:nvSpPr>
        <p:spPr>
          <a:xfrm>
            <a:off x="9169400" y="4991100"/>
            <a:ext cx="1422400" cy="1397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20" b="1">
                <a:solidFill>
                  <a:srgbClr val="A76500"/>
                </a:solidFill>
                <a:latin typeface="Arial"/>
                <a:cs typeface="Arial"/>
              </a:rPr>
              <a:t>owner may stall here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D39499-4E52-45E1-8EAE-744A126EA030}"/>
              </a:ext>
            </a:extLst>
          </p:cNvPr>
          <p:cNvSpPr txBox="1"/>
          <p:nvPr/>
        </p:nvSpPr>
        <p:spPr>
          <a:xfrm>
            <a:off x="739083" y="6264920"/>
            <a:ext cx="10668000" cy="177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00">
                <a:solidFill>
                  <a:srgbClr val="4D596D"/>
                </a:solidFill>
                <a:latin typeface="Arial"/>
                <a:cs typeface="Arial"/>
              </a:rPr>
              <a:t>‡ Boost ticket is documented linearizable. Boost and Rigtorp ticket queues reserve before completing a slot; neither provides strict lock-free progress in MPMC.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2F0886-086B-4A3E-932D-856B6123051D}"/>
              </a:ext>
            </a:extLst>
          </p:cNvPr>
          <p:cNvSpPr txBox="1"/>
          <p:nvPr/>
        </p:nvSpPr>
        <p:spPr>
          <a:xfrm>
            <a:off x="739083" y="6447876"/>
            <a:ext cx="10668000" cy="127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50">
                <a:solidFill>
                  <a:srgbClr val="7A8394"/>
                </a:solidFill>
                <a:latin typeface="Arial"/>
                <a:cs typeface="Arial"/>
              </a:rPr>
              <a:t>Threadripper PRO 7975WX • GCC 15.2 • C++20 • -O3 -march=native -mcx16 • 121 samples • no removals • checksum-validated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C34A64-5F6B-4F11-A100-5B02348D3980}"/>
              </a:ext>
            </a:extLst>
          </p:cNvPr>
          <p:cNvSpPr txBox="1"/>
          <p:nvPr/>
        </p:nvSpPr>
        <p:spPr>
          <a:xfrm>
            <a:off x="762000" y="6578600"/>
            <a:ext cx="10668000" cy="127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750">
                <a:solidFill>
                  <a:srgbClr val="7A8394"/>
                </a:solidFill>
                <a:latin typeface="Arial"/>
                <a:cs typeface="Arial"/>
              </a:rPr>
              <a:t>Queue-only microbenchmark; results describe this machine and workload, not universal application performance.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9BA53E-AD89-46E9-AF8B-477442E1CBA3}"/>
              </a:ext>
            </a:extLst>
          </p:cNvPr>
          <p:cNvSpPr/>
          <p:nvPr/>
        </p:nvSpPr>
        <p:spPr>
          <a:xfrm>
            <a:off x="9067800" y="4883150"/>
            <a:ext cx="228600" cy="11430"/>
          </a:xfrm>
          <a:prstGeom prst="rect">
            <a:avLst/>
          </a:prstGeom>
          <a:solidFill>
            <a:srgbClr val="7652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272FA8C-F88D-4FC8-977A-5907B8331ED4}"/>
              </a:ext>
            </a:extLst>
          </p:cNvPr>
          <p:cNvSpPr/>
          <p:nvPr/>
        </p:nvSpPr>
        <p:spPr>
          <a:xfrm>
            <a:off x="10464800" y="4883150"/>
            <a:ext cx="177800" cy="11430"/>
          </a:xfrm>
          <a:prstGeom prst="rect">
            <a:avLst/>
          </a:prstGeom>
          <a:solidFill>
            <a:srgbClr val="7652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00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728A8-93A8-BF37-2CFE-8FEB3368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5AEDA1-463A-C242-D903-36B48F291AC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5A5581-C274-9A92-D329-7FFF60EFFB89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31239D-B62D-7B02-8F0B-64171BB8CCEC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2AAEB-99AF-FE88-5C17-A5E49AD1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206500"/>
            <a:ext cx="3175000" cy="1785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29932D-DF26-D0BF-2636-CF2616624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1206500"/>
            <a:ext cx="3175000" cy="1785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D5DD69-AC20-A052-1998-B2B5DBAC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4000500"/>
            <a:ext cx="3175000" cy="1785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EF4F70-65FF-FD27-201F-A479C07E7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8500" y="4000500"/>
            <a:ext cx="3175000" cy="1785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B3A05D-4854-326B-F69D-BD3901D59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1206500"/>
            <a:ext cx="3175000" cy="1785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504ACA-C28E-04D1-B3CC-1C916F9336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0" y="4000500"/>
            <a:ext cx="3175000" cy="17859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331550-5B05-1DB2-82BB-06703024AEA8}"/>
              </a:ext>
            </a:extLst>
          </p:cNvPr>
          <p:cNvSpPr txBox="1"/>
          <p:nvPr/>
        </p:nvSpPr>
        <p:spPr>
          <a:xfrm>
            <a:off x="627743" y="410792"/>
            <a:ext cx="2258119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Related talks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298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9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5DDF2-CBA7-1E5F-C98E-F0487B75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EA22E6-BF01-7653-DF81-F261FE552898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6D4E61-24A2-DFC9-E3B5-B4E620641480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3CB7D9-367B-D4DD-AF11-C13BDD7946B6}"/>
              </a:ext>
            </a:extLst>
          </p:cNvPr>
          <p:cNvSpPr/>
          <p:nvPr/>
        </p:nvSpPr>
        <p:spPr>
          <a:xfrm>
            <a:off x="355600" y="393700"/>
            <a:ext cx="76200" cy="558800"/>
          </a:xfrm>
          <a:prstGeom prst="rect">
            <a:avLst/>
          </a:prstGeom>
          <a:solidFill>
            <a:srgbClr val="FF9F1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AF101-814F-BB0D-5B83-E3D55850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78" y="1862424"/>
            <a:ext cx="3362325" cy="3362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D77D69-1DC8-F1E7-13F8-A03DAA009C4F}"/>
              </a:ext>
            </a:extLst>
          </p:cNvPr>
          <p:cNvSpPr txBox="1"/>
          <p:nvPr/>
        </p:nvSpPr>
        <p:spPr>
          <a:xfrm>
            <a:off x="707953" y="393604"/>
            <a:ext cx="1980735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Questions?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4DE55-20E4-59C2-D67B-857591FCEC68}"/>
              </a:ext>
            </a:extLst>
          </p:cNvPr>
          <p:cNvSpPr txBox="1"/>
          <p:nvPr/>
        </p:nvSpPr>
        <p:spPr>
          <a:xfrm>
            <a:off x="3985127" y="5343739"/>
            <a:ext cx="2871299" cy="538609"/>
          </a:xfrm>
          <a:prstGeom prst="rect">
            <a:avLst/>
          </a:prstGeom>
          <a:noFill/>
        </p:spPr>
        <p:txBody>
          <a:bodyPr vertOverflow="overflow" vert="horz" wrap="none" lIns="91440" tIns="45720" rIns="91440" bIns="45720" rtlCol="0" anchor="t">
            <a:spAutoFit/>
          </a:bodyPr>
          <a:lstStyle/>
          <a:p>
            <a:r>
              <a:rPr lang="en-US" sz="2900" b="1">
                <a:solidFill>
                  <a:srgbClr val="202C4A"/>
                </a:solidFill>
                <a:latin typeface="Aptos Display"/>
              </a:rPr>
              <a:t>Connect with 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20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30BB8A-5F85-453B-AFDD-C468D9A55743}">
  <we:reference id="wa200010215" version="2.0.0.0" store="en-US" storeType="omex"/>
  <we:alternateReferences>
    <we:reference id="wa200010215" version="2.0.0.0" store="omex" storeType="omex"/>
  </we:alternateReferences>
  <we:properties>
    <we:property name="bps.codex_control.document_id" value="&quot;15def0ed-6dc4-4678-a0b3-4089a5d2795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Queues connect execution contexts</vt:lpstr>
      <vt:lpstr>Goal</vt:lpstr>
      <vt:lpstr>False sharing</vt:lpstr>
      <vt:lpstr>Atomics make shared updates indivisible</vt:lpstr>
      <vt:lpstr>Atomics</vt:lpstr>
      <vt:lpstr>False sharing</vt:lpstr>
      <vt:lpstr>alignas controls placement—not object size</vt:lpstr>
      <vt:lpstr>alignas controls placement—not object size</vt:lpstr>
      <vt:lpstr>Aligned shared state by ownership</vt:lpstr>
      <vt:lpstr>alignas controls placement—not object size</vt:lpstr>
      <vt:lpstr>alignas controls placement—not object size</vt:lpstr>
      <vt:lpstr>Single Producer, Single Consumer</vt:lpstr>
      <vt:lpstr>Boundary conditions</vt:lpstr>
      <vt:lpstr>PowerPoint Presentation</vt:lpstr>
      <vt:lpstr>PowerPoint Presentation</vt:lpstr>
      <vt:lpstr>PowerPoint Presentation</vt:lpstr>
      <vt:lpstr>Aligned shared state by ownership</vt:lpstr>
      <vt:lpstr>alignas controls placement—not object size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alignas controls placement—not object size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alignas controls placement—not object size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2999</cp:revision>
  <dcterms:created xsi:type="dcterms:W3CDTF">2026-08-19T19:55:27Z</dcterms:created>
  <dcterms:modified xsi:type="dcterms:W3CDTF">2026-09-15T19:36:25Z</dcterms:modified>
</cp:coreProperties>
</file>